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0:00 - 0:35]</a:t>
            </a:r>
          </a:p>
          <a:p>
            <a:r>
              <a:t>SPEAKER SCRIPT:</a:t>
            </a:r>
          </a:p>
          <a:p>
            <a:r>
              <a:t>"Good morning, Professor. My name is Dev Dilip Dhapodkar, PRN 24070521505. Today, I am presenting my Predictive Analytics CA3 project on 'Sales Forecasting'.</a:t>
            </a:r>
          </a:p>
          <a:p/>
          <a:p>
            <a:r>
              <a:t>Using the official Kaggle Walmart dataset of over 421,000 records across 45 stores, I developed an end-to-end machine learning pipeline that forecasts weekly sales, reduces forecast error by 60%, and achieves an R² of 0.9725 to optimize retail supply chain inventory."</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0:35 - 1:25]</a:t>
            </a:r>
          </a:p>
          <a:p>
            <a:r>
              <a:t>SPEAKER SCRIPT:</a:t>
            </a:r>
          </a:p>
          <a:p>
            <a:r>
              <a:t>"Looking at Slide 2: Figure 1 plots total weekly sales across all 45 Walmart stores over nearly three years. </a:t>
            </a:r>
          </a:p>
          <a:p>
            <a:r>
              <a:t>Notice the two massive red and orange spikes every November and December:</a:t>
            </a:r>
          </a:p>
          <a:p>
            <a:r>
              <a:t>- On Thanksgiving and Black Friday, weekly sales surge by +44% to over $66 million.</a:t>
            </a:r>
          </a:p>
          <a:p>
            <a:r>
              <a:t>- During the pre-Christmas rush, sales spike by +40% to over $80 million, followed by an immediate collapse once stores close.</a:t>
            </a:r>
          </a:p>
          <a:p/>
          <a:p>
            <a:r>
              <a:t>For supply chain managers, under-forecasting during holidays causes severe out-of-stock penalties. That is why our competition metric—Weighted Mean Absolute Error (WMAE)—weights holiday errors five times heavier than normal weeks."</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1:25 - 2:15]</a:t>
            </a:r>
          </a:p>
          <a:p>
            <a:r>
              <a:t>SPEAKER SCRIPT:</a:t>
            </a:r>
          </a:p>
          <a:p>
            <a:r>
              <a:t>"Next, in Data Preprocessing, we tackled two critical real-world issues shown on the chart:</a:t>
            </a:r>
          </a:p>
          <a:p>
            <a:r>
              <a:t>First, promotional markdowns (MarkDown1 through 5) had 64% to 74% missing values. This is because markdowns were only introduced in late 2011. Instead of naive imputation, we created an active promotional flag and then imputed zeros, giving the model clear promo signals.</a:t>
            </a:r>
          </a:p>
          <a:p/>
          <a:p>
            <a:r>
              <a:t>Second, 1,285 records showed negative sales due to customer returns, which we floored at zero. For outliers, we carefully winsorized only non-holiday anomalies at the 99.95th percentile, ensuring real holiday demand surges were never accidentally erased."</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2:15 - 3:05]</a:t>
            </a:r>
          </a:p>
          <a:p>
            <a:r>
              <a:t>SPEAKER SCRIPT:</a:t>
            </a:r>
          </a:p>
          <a:p>
            <a:r>
              <a:t>"In Step 3, we engineered 43 domain-specific features. As the chart on the left illustrates:</a:t>
            </a:r>
          </a:p>
          <a:p>
            <a:r>
              <a:t>1. The single most powerful feature is 'Lag 52'—sales from the exact same week one year ago—which accounts for 41% of total model gain! Retail demand is intensely seasonal, so last year's sales provide the baseline.</a:t>
            </a:r>
          </a:p>
          <a:p>
            <a:r>
              <a:t>2. The next 40% of gain comes from short-term momentum: prior week sales (Lag 1) and the recent 4-week moving average.</a:t>
            </a:r>
          </a:p>
          <a:p>
            <a:r>
              <a:t>3. Specific holiday flags like Thanksgiving provide the final non-linear boost during Q4.</a:t>
            </a:r>
          </a:p>
          <a:p/>
          <a:p>
            <a:r>
              <a:t>Crucially, all rolling averages were strictly shifted by one week to eliminate any look-ahead bias or data leakage."</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3:05 - 4:00]</a:t>
            </a:r>
          </a:p>
          <a:p>
            <a:r>
              <a:t>SPEAKER SCRIPT:</a:t>
            </a:r>
          </a:p>
          <a:p>
            <a:r>
              <a:t>"Now looking at Model Benchmarking on Slide 5. We evaluated four algorithms on an unseen 49-week validation horizon containing 145,000 department-week records.</a:t>
            </a:r>
          </a:p>
          <a:p/>
          <a:p>
            <a:r>
              <a:t>As the bar chart shows:</a:t>
            </a:r>
          </a:p>
          <a:p>
            <a:r>
              <a:t>- The linear Baseline Ridge model struggled, with a WMAE of $4,393 and a catastrophic holiday error of over $10,000 per department. Linear models simply cannot handle non-linear holiday spikes.</a:t>
            </a:r>
          </a:p>
          <a:p>
            <a:r>
              <a:t>- Tree ensembles dramatically improved accuracy:</a:t>
            </a:r>
          </a:p>
          <a:p>
            <a:r>
              <a:t>- Random Forest achieved $1,792.</a:t>
            </a:r>
          </a:p>
          <a:p>
            <a:r>
              <a:t>- XGBoost achieved $1,838.</a:t>
            </a:r>
          </a:p>
          <a:p>
            <a:r>
              <a:t>- LightGBM was the overall winner, achieving the lowest WMAE of $1,759—a 60% error reduction—and an R² of 0.9725, while training in under 5 seconds!"</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4:00 - 4:50]</a:t>
            </a:r>
          </a:p>
          <a:p>
            <a:r>
              <a:t>SPEAKER SCRIPT:</a:t>
            </a:r>
          </a:p>
          <a:p>
            <a:r>
              <a:t>"Slide 6 shows the actual proof of model performance:</a:t>
            </a:r>
          </a:p>
          <a:p>
            <a:r>
              <a:t>The black solid line is actual weekly sales across the 45 stores; the dashed green line is our LightGBM forecast.</a:t>
            </a:r>
          </a:p>
          <a:p/>
          <a:p>
            <a:r>
              <a:t>Notice how the green forecast hugs the black line through every seasonal dip and rises smoothly to capture the massive 77-million-dollar holiday peak. More importantly, it immediately adjusts downwards right after the holidays, preventing overstocking in January."</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4:50 - 5:45]</a:t>
            </a:r>
          </a:p>
          <a:p>
            <a:r>
              <a:t>SPEAKER SCRIPT:</a:t>
            </a:r>
          </a:p>
          <a:p>
            <a:r>
              <a:t>"Finally, on Slide 7, we translate statistical accuracy into business dollars:</a:t>
            </a:r>
          </a:p>
          <a:p>
            <a:r>
              <a:t>In retail supply chain management, forecast errors mean paying for excess safety stock or losing margins due to empty shelves. Applying an industry-standard 22% penalty factor:</a:t>
            </a:r>
          </a:p>
          <a:p>
            <a:r>
              <a:t>- Total inventory mismatch cost is slashed from $80.3 million down to $48.6 million.</a:t>
            </a:r>
          </a:p>
          <a:p>
            <a:r>
              <a:t>- That is a direct savings of $31.7 million—or 39%—across all 45 Walmart stores ($17M saved in Supercenters and $13M in Discount stores).</a:t>
            </a:r>
          </a:p>
          <a:p/>
          <a:p>
            <a:r>
              <a:t>In conclusion:</a:t>
            </a:r>
          </a:p>
          <a:p>
            <a:r>
              <a:t>Following the KDD process, we engineered 43 features and built a LightGBM model that cuts error by 60%, explains 97.25% of sales variance, and protects holiday revenue.</a:t>
            </a:r>
          </a:p>
          <a:p/>
          <a:p>
            <a:r>
              <a:t>Thank you very much. I am now open to your questions."</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60" cy="6858000"/>
          </a:xfrm>
          <a:prstGeom prst="rect">
            <a:avLst/>
          </a:prstGeom>
          <a:solidFill>
            <a:srgbClr val="FFC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005840"/>
            <a:ext cx="10241280" cy="3108960"/>
          </a:xfrm>
          <a:prstGeom prst="rect">
            <a:avLst/>
          </a:prstGeom>
          <a:noFill/>
        </p:spPr>
        <p:txBody>
          <a:bodyPr wrap="square">
            <a:spAutoFit/>
          </a:bodyPr>
          <a:lstStyle/>
          <a:p>
            <a:pPr>
              <a:spcAft>
                <a:spcPts val="1200"/>
              </a:spcAft>
              <a:defRPr sz="1500" b="1">
                <a:solidFill>
                  <a:srgbClr val="FFC220"/>
                </a:solidFill>
                <a:latin typeface="Calibri"/>
              </a:defRPr>
            </a:pPr>
            <a:r>
              <a:t>PREDICTIVE ANALYTICS — CA3 PRESENTATION</a:t>
            </a:r>
          </a:p>
          <a:p>
            <a:pPr>
              <a:spcAft>
                <a:spcPts val="800"/>
              </a:spcAft>
              <a:defRPr sz="4400" b="1">
                <a:solidFill>
                  <a:srgbClr val="FFFFFF"/>
                </a:solidFill>
                <a:latin typeface="Calibri"/>
              </a:defRPr>
            </a:pPr>
            <a:r>
              <a:t>Sales Forecasting</a:t>
            </a:r>
          </a:p>
          <a:p>
            <a:pPr>
              <a:spcAft>
                <a:spcPts val="2000"/>
              </a:spcAft>
              <a:defRPr sz="1900">
                <a:solidFill>
                  <a:srgbClr val="BAE6FD"/>
                </a:solidFill>
                <a:latin typeface="Calibri"/>
              </a:defRPr>
            </a:pPr>
            <a:r>
              <a:t>End-to-End Retail Store Sales Forecasting &amp; Supply Chain Optimization</a:t>
            </a:r>
          </a:p>
          <a:p>
            <a:pPr>
              <a:defRPr sz="1700" b="1">
                <a:solidFill>
                  <a:srgbClr val="FFC220"/>
                </a:solidFill>
                <a:latin typeface="Calibri"/>
              </a:defRPr>
            </a:pPr>
            <a:r>
              <a:t>Presented by: Dev Dilip Dhapodkar   |   PRN: 24070521505</a:t>
            </a:r>
          </a:p>
        </p:txBody>
      </p:sp>
      <p:sp>
        <p:nvSpPr>
          <p:cNvPr id="5" name="Rounded Rectangle 4"/>
          <p:cNvSpPr/>
          <p:nvPr/>
        </p:nvSpPr>
        <p:spPr>
          <a:xfrm>
            <a:off x="1005840" y="4434840"/>
            <a:ext cx="3108960" cy="146304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4572000"/>
            <a:ext cx="3108960" cy="1188720"/>
          </a:xfrm>
          <a:prstGeom prst="rect">
            <a:avLst/>
          </a:prstGeom>
          <a:noFill/>
        </p:spPr>
        <p:txBody>
          <a:bodyPr wrap="none">
            <a:spAutoFit/>
          </a:bodyPr>
          <a:lstStyle/>
          <a:p>
            <a:pPr algn="ctr">
              <a:defRPr sz="2600" b="1">
                <a:solidFill>
                  <a:srgbClr val="0071CE"/>
                </a:solidFill>
                <a:latin typeface="Calibri"/>
              </a:defRPr>
            </a:pPr>
            <a:r>
              <a:t>421,570</a:t>
            </a:r>
          </a:p>
          <a:p>
            <a:pPr algn="ctr">
              <a:defRPr sz="1200" b="1">
                <a:solidFill>
                  <a:srgbClr val="0F2942"/>
                </a:solidFill>
                <a:latin typeface="Calibri"/>
              </a:defRPr>
            </a:pPr>
            <a:r>
              <a:t>Walmart Sales Records</a:t>
            </a:r>
          </a:p>
          <a:p>
            <a:pPr algn="ctr">
              <a:defRPr sz="1000">
                <a:solidFill>
                  <a:srgbClr val="64748B"/>
                </a:solidFill>
                <a:latin typeface="Calibri"/>
              </a:defRPr>
            </a:pPr>
            <a:r>
              <a:t>45 Stores × 81 Departments</a:t>
            </a:r>
          </a:p>
        </p:txBody>
      </p:sp>
      <p:sp>
        <p:nvSpPr>
          <p:cNvPr id="7" name="Rounded Rectangle 6"/>
          <p:cNvSpPr/>
          <p:nvPr/>
        </p:nvSpPr>
        <p:spPr>
          <a:xfrm>
            <a:off x="4572000" y="4434840"/>
            <a:ext cx="3108960" cy="146304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4572000"/>
            <a:ext cx="3108960" cy="1188720"/>
          </a:xfrm>
          <a:prstGeom prst="rect">
            <a:avLst/>
          </a:prstGeom>
          <a:noFill/>
        </p:spPr>
        <p:txBody>
          <a:bodyPr wrap="none">
            <a:spAutoFit/>
          </a:bodyPr>
          <a:lstStyle/>
          <a:p>
            <a:pPr algn="ctr">
              <a:defRPr sz="2600" b="1">
                <a:solidFill>
                  <a:srgbClr val="0071CE"/>
                </a:solidFill>
                <a:latin typeface="Calibri"/>
              </a:defRPr>
            </a:pPr>
            <a:r>
              <a:t>-60.0%</a:t>
            </a:r>
          </a:p>
          <a:p>
            <a:pPr algn="ctr">
              <a:defRPr sz="1200" b="1">
                <a:solidFill>
                  <a:srgbClr val="0F2942"/>
                </a:solidFill>
                <a:latin typeface="Calibri"/>
              </a:defRPr>
            </a:pPr>
            <a:r>
              <a:t>WMAE Error Reduction</a:t>
            </a:r>
          </a:p>
          <a:p>
            <a:pPr algn="ctr">
              <a:defRPr sz="1000">
                <a:solidFill>
                  <a:srgbClr val="64748B"/>
                </a:solidFill>
                <a:latin typeface="Calibri"/>
              </a:defRPr>
            </a:pPr>
            <a:r>
              <a:t>$1,759 vs $4,393 Baseline</a:t>
            </a:r>
          </a:p>
        </p:txBody>
      </p:sp>
      <p:sp>
        <p:nvSpPr>
          <p:cNvPr id="9" name="Rounded Rectangle 8"/>
          <p:cNvSpPr/>
          <p:nvPr/>
        </p:nvSpPr>
        <p:spPr>
          <a:xfrm>
            <a:off x="8138160" y="4434840"/>
            <a:ext cx="3108960" cy="146304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38160" y="4572000"/>
            <a:ext cx="3108960" cy="1188720"/>
          </a:xfrm>
          <a:prstGeom prst="rect">
            <a:avLst/>
          </a:prstGeom>
          <a:noFill/>
        </p:spPr>
        <p:txBody>
          <a:bodyPr wrap="none">
            <a:spAutoFit/>
          </a:bodyPr>
          <a:lstStyle/>
          <a:p>
            <a:pPr algn="ctr">
              <a:defRPr sz="2600" b="1">
                <a:solidFill>
                  <a:srgbClr val="0071CE"/>
                </a:solidFill>
                <a:latin typeface="Calibri"/>
              </a:defRPr>
            </a:pPr>
            <a:r>
              <a:t>R² = 0.9725</a:t>
            </a:r>
          </a:p>
          <a:p>
            <a:pPr algn="ctr">
              <a:defRPr sz="1200" b="1">
                <a:solidFill>
                  <a:srgbClr val="0F2942"/>
                </a:solidFill>
                <a:latin typeface="Calibri"/>
              </a:defRPr>
            </a:pPr>
            <a:r>
              <a:t>Variance Explained</a:t>
            </a:r>
          </a:p>
          <a:p>
            <a:pPr algn="ctr">
              <a:defRPr sz="1000">
                <a:solidFill>
                  <a:srgbClr val="64748B"/>
                </a:solidFill>
                <a:latin typeface="Calibri"/>
              </a:defRPr>
            </a:pPr>
            <a:r>
              <a:t>$31.7M Supply Chain Savings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F2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FC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09728"/>
            <a:ext cx="10058400" cy="777240"/>
          </a:xfrm>
          <a:prstGeom prst="rect">
            <a:avLst/>
          </a:prstGeom>
          <a:noFill/>
        </p:spPr>
        <p:txBody>
          <a:bodyPr wrap="square">
            <a:spAutoFit/>
          </a:bodyPr>
          <a:lstStyle/>
          <a:p>
            <a:pPr>
              <a:defRPr sz="2300" b="1">
                <a:solidFill>
                  <a:srgbClr val="FFFFFF"/>
                </a:solidFill>
                <a:latin typeface="Calibri"/>
              </a:defRPr>
            </a:pPr>
            <a:r>
              <a:t>1. The Challenge: Massive Recurring Holiday Surges</a:t>
            </a:r>
          </a:p>
          <a:p>
            <a:pPr>
              <a:defRPr sz="1200">
                <a:solidFill>
                  <a:srgbClr val="BAE6FD"/>
                </a:solidFill>
                <a:latin typeface="Calibri"/>
              </a:defRPr>
            </a:pPr>
            <a:r>
              <a:t>Why Retail Forecasting Is Critical for Supply Chain Inventory Planning</a:t>
            </a:r>
          </a:p>
        </p:txBody>
      </p:sp>
      <p:sp>
        <p:nvSpPr>
          <p:cNvPr id="6" name="TextBox 5"/>
          <p:cNvSpPr txBox="1"/>
          <p:nvPr/>
        </p:nvSpPr>
        <p:spPr>
          <a:xfrm>
            <a:off x="594360" y="6510528"/>
            <a:ext cx="10972800" cy="274320"/>
          </a:xfrm>
          <a:prstGeom prst="rect">
            <a:avLst/>
          </a:prstGeom>
          <a:noFill/>
        </p:spPr>
        <p:txBody>
          <a:bodyPr wrap="none">
            <a:spAutoFit/>
          </a:bodyPr>
          <a:lstStyle/>
          <a:p>
            <a:pPr>
              <a:defRPr sz="950">
                <a:solidFill>
                  <a:srgbClr val="64748B"/>
                </a:solidFill>
                <a:latin typeface="Calibri"/>
              </a:defRPr>
            </a:pPr>
            <a:r>
              <a:t>Dev Dilip Dhapodkar (PRN: 24070521505)  |  Predictive Analytics CA3: Sales Forecasting                                                  Slide 2 of 7</a:t>
            </a:r>
          </a:p>
        </p:txBody>
      </p:sp>
      <p:pic>
        <p:nvPicPr>
          <p:cNvPr id="7" name="Picture 6" descr="chart1_sales_spikes.png"/>
          <p:cNvPicPr>
            <a:picLocks noChangeAspect="1"/>
          </p:cNvPicPr>
          <p:nvPr/>
        </p:nvPicPr>
        <p:blipFill>
          <a:blip r:embed="rId2"/>
          <a:stretch>
            <a:fillRect/>
          </a:stretch>
        </p:blipFill>
        <p:spPr>
          <a:xfrm>
            <a:off x="594360" y="1234440"/>
            <a:ext cx="7132320" cy="4027663"/>
          </a:xfrm>
          <a:prstGeom prst="rect">
            <a:avLst/>
          </a:prstGeom>
        </p:spPr>
      </p:pic>
      <p:sp>
        <p:nvSpPr>
          <p:cNvPr id="8" name="Rounded Rectangle 7"/>
          <p:cNvSpPr/>
          <p:nvPr/>
        </p:nvSpPr>
        <p:spPr>
          <a:xfrm>
            <a:off x="7955279" y="1234440"/>
            <a:ext cx="3657600" cy="2468880"/>
          </a:xfrm>
          <a:prstGeom prst="roundRect">
            <a:avLst>
              <a:gd name="adj" fmla="val 4000"/>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955279" y="1234440"/>
            <a:ext cx="3657600" cy="402336"/>
          </a:xfrm>
          <a:prstGeom prst="roundRect">
            <a:avLst>
              <a:gd name="adj" fmla="val 8000"/>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92440" y="1280160"/>
            <a:ext cx="3383280" cy="320040"/>
          </a:xfrm>
          <a:prstGeom prst="rect">
            <a:avLst/>
          </a:prstGeom>
          <a:noFill/>
        </p:spPr>
        <p:txBody>
          <a:bodyPr wrap="none">
            <a:spAutoFit/>
          </a:bodyPr>
          <a:lstStyle/>
          <a:p>
            <a:pPr>
              <a:defRPr sz="1300" b="1">
                <a:solidFill>
                  <a:srgbClr val="FFFFFF"/>
                </a:solidFill>
                <a:latin typeface="Calibri"/>
              </a:defRPr>
            </a:pPr>
            <a:r>
              <a:t>The Supply Chain Dilemma</a:t>
            </a:r>
          </a:p>
        </p:txBody>
      </p:sp>
      <p:sp>
        <p:nvSpPr>
          <p:cNvPr id="11" name="TextBox 10"/>
          <p:cNvSpPr txBox="1"/>
          <p:nvPr/>
        </p:nvSpPr>
        <p:spPr>
          <a:xfrm>
            <a:off x="8138159" y="1709928"/>
            <a:ext cx="3291840" cy="1920240"/>
          </a:xfrm>
          <a:prstGeom prst="rect">
            <a:avLst/>
          </a:prstGeom>
          <a:noFill/>
        </p:spPr>
        <p:txBody>
          <a:bodyPr wrap="square">
            <a:spAutoFit/>
          </a:bodyPr>
          <a:lstStyle/>
          <a:p>
            <a:pPr>
              <a:spcAft>
                <a:spcPts val="600"/>
              </a:spcAft>
              <a:defRPr sz="1200">
                <a:solidFill>
                  <a:srgbClr val="1E293B"/>
                </a:solidFill>
                <a:latin typeface="Calibri"/>
              </a:defRPr>
            </a:pPr>
            <a:r>
              <a:t>• Thanksgiving (+44%): Sales surge to $66.6M in a single week due to Black Friday demand.</a:t>
            </a:r>
          </a:p>
          <a:p>
            <a:pPr>
              <a:spcAft>
                <a:spcPts val="600"/>
              </a:spcAft>
              <a:defRPr sz="1200">
                <a:solidFill>
                  <a:srgbClr val="1E293B"/>
                </a:solidFill>
                <a:latin typeface="Calibri"/>
              </a:defRPr>
            </a:pPr>
            <a:r>
              <a:t>• Pre-Christmas (+40%): Surges to $80.9M, followed by an immediate sharp drop.</a:t>
            </a:r>
          </a:p>
          <a:p>
            <a:pPr>
              <a:spcAft>
                <a:spcPts val="600"/>
              </a:spcAft>
              <a:defRPr sz="1200">
                <a:solidFill>
                  <a:srgbClr val="1E293B"/>
                </a:solidFill>
                <a:latin typeface="Calibri"/>
              </a:defRPr>
            </a:pPr>
            <a:r>
              <a:t>• Asymmetric Risk: Stockouts during holidays lose customers forever. Over-stocking causes costly markdowns.</a:t>
            </a:r>
          </a:p>
        </p:txBody>
      </p:sp>
      <p:sp>
        <p:nvSpPr>
          <p:cNvPr id="12" name="Rounded Rectangle 11"/>
          <p:cNvSpPr/>
          <p:nvPr/>
        </p:nvSpPr>
        <p:spPr>
          <a:xfrm>
            <a:off x="7955279" y="3886200"/>
            <a:ext cx="3657600" cy="2423160"/>
          </a:xfrm>
          <a:prstGeom prst="roundRect">
            <a:avLst>
              <a:gd name="adj" fmla="val 4000"/>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955279" y="3886200"/>
            <a:ext cx="3657600" cy="402336"/>
          </a:xfrm>
          <a:prstGeom prst="roundRect">
            <a:avLst>
              <a:gd name="adj" fmla="val 8000"/>
            </a:avLst>
          </a:prstGeom>
          <a:solidFill>
            <a:srgbClr val="0F2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92440" y="3931920"/>
            <a:ext cx="3383280" cy="320040"/>
          </a:xfrm>
          <a:prstGeom prst="rect">
            <a:avLst/>
          </a:prstGeom>
          <a:noFill/>
        </p:spPr>
        <p:txBody>
          <a:bodyPr wrap="none">
            <a:spAutoFit/>
          </a:bodyPr>
          <a:lstStyle/>
          <a:p>
            <a:pPr>
              <a:defRPr sz="1300" b="1">
                <a:solidFill>
                  <a:srgbClr val="FFFFFF"/>
                </a:solidFill>
                <a:latin typeface="Calibri"/>
              </a:defRPr>
            </a:pPr>
            <a:r>
              <a:t>The Evaluation Metric (WMAE)</a:t>
            </a:r>
          </a:p>
        </p:txBody>
      </p:sp>
      <p:sp>
        <p:nvSpPr>
          <p:cNvPr id="15" name="TextBox 14"/>
          <p:cNvSpPr txBox="1"/>
          <p:nvPr/>
        </p:nvSpPr>
        <p:spPr>
          <a:xfrm>
            <a:off x="8138159" y="4361688"/>
            <a:ext cx="3291840" cy="1874519"/>
          </a:xfrm>
          <a:prstGeom prst="rect">
            <a:avLst/>
          </a:prstGeom>
          <a:noFill/>
        </p:spPr>
        <p:txBody>
          <a:bodyPr wrap="square">
            <a:spAutoFit/>
          </a:bodyPr>
          <a:lstStyle/>
          <a:p>
            <a:pPr>
              <a:spcAft>
                <a:spcPts val="600"/>
              </a:spcAft>
              <a:defRPr sz="1200">
                <a:solidFill>
                  <a:srgbClr val="1E293B"/>
                </a:solidFill>
                <a:latin typeface="Calibri"/>
              </a:defRPr>
            </a:pPr>
            <a:r>
              <a:t>• Weighted Mean Absolute Error (WMAE):</a:t>
            </a:r>
          </a:p>
          <a:p>
            <a:pPr>
              <a:spcAft>
                <a:spcPts val="600"/>
              </a:spcAft>
              <a:defRPr sz="1200">
                <a:solidFill>
                  <a:srgbClr val="1E293B"/>
                </a:solidFill>
                <a:latin typeface="Calibri"/>
              </a:defRPr>
            </a:pPr>
            <a:r>
              <a:t>• Holiday Weeks have 5x weight (w = 5).</a:t>
            </a:r>
          </a:p>
          <a:p>
            <a:pPr>
              <a:spcAft>
                <a:spcPts val="600"/>
              </a:spcAft>
              <a:defRPr sz="1200">
                <a:solidFill>
                  <a:srgbClr val="1E293B"/>
                </a:solidFill>
                <a:latin typeface="Calibri"/>
              </a:defRPr>
            </a:pPr>
            <a:r>
              <a:t>• Regular Weeks have 1x weight (w = 1).</a:t>
            </a:r>
          </a:p>
          <a:p>
            <a:pPr>
              <a:spcAft>
                <a:spcPts val="600"/>
              </a:spcAft>
              <a:defRPr sz="1200">
                <a:solidFill>
                  <a:srgbClr val="1E293B"/>
                </a:solidFill>
                <a:latin typeface="Calibri"/>
              </a:defRPr>
            </a:pPr>
            <a:r>
              <a:t>• Models must prioritize holiday accuracy above all else to optimize inventory.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F2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FC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09728"/>
            <a:ext cx="10058400" cy="777240"/>
          </a:xfrm>
          <a:prstGeom prst="rect">
            <a:avLst/>
          </a:prstGeom>
          <a:noFill/>
        </p:spPr>
        <p:txBody>
          <a:bodyPr wrap="square">
            <a:spAutoFit/>
          </a:bodyPr>
          <a:lstStyle/>
          <a:p>
            <a:pPr>
              <a:defRPr sz="2300" b="1">
                <a:solidFill>
                  <a:srgbClr val="FFFFFF"/>
                </a:solidFill>
                <a:latin typeface="Calibri"/>
              </a:defRPr>
            </a:pPr>
            <a:r>
              <a:t>2. Data Preprocessing: MarkDowns &amp; Outlier Treatment</a:t>
            </a:r>
          </a:p>
          <a:p>
            <a:pPr>
              <a:defRPr sz="1200">
                <a:solidFill>
                  <a:srgbClr val="BAE6FD"/>
                </a:solidFill>
                <a:latin typeface="Calibri"/>
              </a:defRPr>
            </a:pPr>
            <a:r>
              <a:t>Handling Missing Promotional Records and Anomaly Returns Without Biasing Holiday Spikes</a:t>
            </a:r>
          </a:p>
        </p:txBody>
      </p:sp>
      <p:sp>
        <p:nvSpPr>
          <p:cNvPr id="6" name="TextBox 5"/>
          <p:cNvSpPr txBox="1"/>
          <p:nvPr/>
        </p:nvSpPr>
        <p:spPr>
          <a:xfrm>
            <a:off x="594360" y="6510528"/>
            <a:ext cx="10972800" cy="274320"/>
          </a:xfrm>
          <a:prstGeom prst="rect">
            <a:avLst/>
          </a:prstGeom>
          <a:noFill/>
        </p:spPr>
        <p:txBody>
          <a:bodyPr wrap="none">
            <a:spAutoFit/>
          </a:bodyPr>
          <a:lstStyle/>
          <a:p>
            <a:pPr>
              <a:defRPr sz="950">
                <a:solidFill>
                  <a:srgbClr val="64748B"/>
                </a:solidFill>
                <a:latin typeface="Calibri"/>
              </a:defRPr>
            </a:pPr>
            <a:r>
              <a:t>Dev Dilip Dhapodkar (PRN: 24070521505)  |  Predictive Analytics CA3: Sales Forecasting                                                  Slide 3 of 7</a:t>
            </a:r>
          </a:p>
        </p:txBody>
      </p:sp>
      <p:pic>
        <p:nvPicPr>
          <p:cNvPr id="7" name="Picture 6" descr="chart_preprocessing_simple.png"/>
          <p:cNvPicPr>
            <a:picLocks noChangeAspect="1"/>
          </p:cNvPicPr>
          <p:nvPr/>
        </p:nvPicPr>
        <p:blipFill>
          <a:blip r:embed="rId2"/>
          <a:stretch>
            <a:fillRect/>
          </a:stretch>
        </p:blipFill>
        <p:spPr>
          <a:xfrm>
            <a:off x="594360" y="1234440"/>
            <a:ext cx="7132320" cy="4027663"/>
          </a:xfrm>
          <a:prstGeom prst="rect">
            <a:avLst/>
          </a:prstGeom>
        </p:spPr>
      </p:pic>
      <p:sp>
        <p:nvSpPr>
          <p:cNvPr id="8" name="Rounded Rectangle 7"/>
          <p:cNvSpPr/>
          <p:nvPr/>
        </p:nvSpPr>
        <p:spPr>
          <a:xfrm>
            <a:off x="7955279" y="1234440"/>
            <a:ext cx="3657600" cy="2468880"/>
          </a:xfrm>
          <a:prstGeom prst="roundRect">
            <a:avLst>
              <a:gd name="adj" fmla="val 4000"/>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955279" y="1234440"/>
            <a:ext cx="3657600" cy="402336"/>
          </a:xfrm>
          <a:prstGeom prst="roundRect">
            <a:avLst>
              <a:gd name="adj" fmla="val 8000"/>
            </a:avLst>
          </a:prstGeom>
          <a:solidFill>
            <a:srgbClr val="0071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92440" y="1280160"/>
            <a:ext cx="3383280" cy="320040"/>
          </a:xfrm>
          <a:prstGeom prst="rect">
            <a:avLst/>
          </a:prstGeom>
          <a:noFill/>
        </p:spPr>
        <p:txBody>
          <a:bodyPr wrap="none">
            <a:spAutoFit/>
          </a:bodyPr>
          <a:lstStyle/>
          <a:p>
            <a:pPr>
              <a:defRPr sz="1300" b="1">
                <a:solidFill>
                  <a:srgbClr val="FFFFFF"/>
                </a:solidFill>
                <a:latin typeface="Calibri"/>
              </a:defRPr>
            </a:pPr>
            <a:r>
              <a:t>1. MarkDown Imputation</a:t>
            </a:r>
          </a:p>
        </p:txBody>
      </p:sp>
      <p:sp>
        <p:nvSpPr>
          <p:cNvPr id="11" name="TextBox 10"/>
          <p:cNvSpPr txBox="1"/>
          <p:nvPr/>
        </p:nvSpPr>
        <p:spPr>
          <a:xfrm>
            <a:off x="8138159" y="1709928"/>
            <a:ext cx="3291840" cy="1920240"/>
          </a:xfrm>
          <a:prstGeom prst="rect">
            <a:avLst/>
          </a:prstGeom>
          <a:noFill/>
        </p:spPr>
        <p:txBody>
          <a:bodyPr wrap="square">
            <a:spAutoFit/>
          </a:bodyPr>
          <a:lstStyle/>
          <a:p>
            <a:pPr>
              <a:spcAft>
                <a:spcPts val="600"/>
              </a:spcAft>
              <a:defRPr sz="1200">
                <a:solidFill>
                  <a:srgbClr val="1E293B"/>
                </a:solidFill>
                <a:latin typeface="Calibri"/>
              </a:defRPr>
            </a:pPr>
            <a:r>
              <a:t>• 64%–74% Missing: MarkDown1–5 only started being tracked in November 2011.</a:t>
            </a:r>
          </a:p>
          <a:p>
            <a:pPr>
              <a:spcAft>
                <a:spcPts val="600"/>
              </a:spcAft>
              <a:defRPr sz="1200">
                <a:solidFill>
                  <a:srgbClr val="1E293B"/>
                </a:solidFill>
                <a:latin typeface="Calibri"/>
              </a:defRPr>
            </a:pPr>
            <a:r>
              <a:t>• Solution: Extracted binary 'Has_MarkDown' and count indicators before imputing 0.0.</a:t>
            </a:r>
          </a:p>
          <a:p>
            <a:pPr>
              <a:spcAft>
                <a:spcPts val="600"/>
              </a:spcAft>
              <a:defRPr sz="1200">
                <a:solidFill>
                  <a:srgbClr val="1E293B"/>
                </a:solidFill>
                <a:latin typeface="Calibri"/>
              </a:defRPr>
            </a:pPr>
            <a:r>
              <a:t>• Result: The model knows whether a promotion was active or inactive.</a:t>
            </a:r>
          </a:p>
        </p:txBody>
      </p:sp>
      <p:sp>
        <p:nvSpPr>
          <p:cNvPr id="12" name="Rounded Rectangle 11"/>
          <p:cNvSpPr/>
          <p:nvPr/>
        </p:nvSpPr>
        <p:spPr>
          <a:xfrm>
            <a:off x="7955279" y="3886200"/>
            <a:ext cx="3657600" cy="2423160"/>
          </a:xfrm>
          <a:prstGeom prst="roundRect">
            <a:avLst>
              <a:gd name="adj" fmla="val 4000"/>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955279" y="3886200"/>
            <a:ext cx="3657600" cy="402336"/>
          </a:xfrm>
          <a:prstGeom prst="roundRect">
            <a:avLst>
              <a:gd name="adj" fmla="val 8000"/>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92440" y="3931920"/>
            <a:ext cx="3383280" cy="320040"/>
          </a:xfrm>
          <a:prstGeom prst="rect">
            <a:avLst/>
          </a:prstGeom>
          <a:noFill/>
        </p:spPr>
        <p:txBody>
          <a:bodyPr wrap="none">
            <a:spAutoFit/>
          </a:bodyPr>
          <a:lstStyle/>
          <a:p>
            <a:pPr>
              <a:defRPr sz="1300" b="1">
                <a:solidFill>
                  <a:srgbClr val="FFFFFF"/>
                </a:solidFill>
                <a:latin typeface="Calibri"/>
              </a:defRPr>
            </a:pPr>
            <a:r>
              <a:t>2. Returns &amp; Outliers</a:t>
            </a:r>
          </a:p>
        </p:txBody>
      </p:sp>
      <p:sp>
        <p:nvSpPr>
          <p:cNvPr id="15" name="TextBox 14"/>
          <p:cNvSpPr txBox="1"/>
          <p:nvPr/>
        </p:nvSpPr>
        <p:spPr>
          <a:xfrm>
            <a:off x="8138159" y="4361688"/>
            <a:ext cx="3291840" cy="1874519"/>
          </a:xfrm>
          <a:prstGeom prst="rect">
            <a:avLst/>
          </a:prstGeom>
          <a:noFill/>
        </p:spPr>
        <p:txBody>
          <a:bodyPr wrap="square">
            <a:spAutoFit/>
          </a:bodyPr>
          <a:lstStyle/>
          <a:p>
            <a:pPr>
              <a:spcAft>
                <a:spcPts val="600"/>
              </a:spcAft>
              <a:defRPr sz="1200">
                <a:solidFill>
                  <a:srgbClr val="1E293B"/>
                </a:solidFill>
                <a:latin typeface="Calibri"/>
              </a:defRPr>
            </a:pPr>
            <a:r>
              <a:t>• Negative Returns (1,285 rows): Customer returns caused negative sales. Floored at $0.00.</a:t>
            </a:r>
          </a:p>
          <a:p>
            <a:pPr>
              <a:spcAft>
                <a:spcPts val="600"/>
              </a:spcAft>
              <a:defRPr sz="1200">
                <a:solidFill>
                  <a:srgbClr val="1E293B"/>
                </a:solidFill>
                <a:latin typeface="Calibri"/>
              </a:defRPr>
            </a:pPr>
            <a:r>
              <a:t>• Preserving Holidays: Standard outlier removal would delete genuine Black Friday spikes. We capped non-holiday outliers at $183K while keeping holiday spikes intact.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F2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FC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09728"/>
            <a:ext cx="10058400" cy="777240"/>
          </a:xfrm>
          <a:prstGeom prst="rect">
            <a:avLst/>
          </a:prstGeom>
          <a:noFill/>
        </p:spPr>
        <p:txBody>
          <a:bodyPr wrap="square">
            <a:spAutoFit/>
          </a:bodyPr>
          <a:lstStyle/>
          <a:p>
            <a:pPr>
              <a:defRPr sz="2300" b="1">
                <a:solidFill>
                  <a:srgbClr val="FFFFFF"/>
                </a:solidFill>
                <a:latin typeface="Calibri"/>
              </a:defRPr>
            </a:pPr>
            <a:r>
              <a:t>3. Feature Engineering: The 43 Predictive Features</a:t>
            </a:r>
          </a:p>
          <a:p>
            <a:pPr>
              <a:defRPr sz="1200">
                <a:solidFill>
                  <a:srgbClr val="BAE6FD"/>
                </a:solidFill>
                <a:latin typeface="Calibri"/>
              </a:defRPr>
            </a:pPr>
            <a:r>
              <a:t>How Autoregressive Lags and Calendar Signals Power Accurate Forecasts</a:t>
            </a:r>
          </a:p>
        </p:txBody>
      </p:sp>
      <p:sp>
        <p:nvSpPr>
          <p:cNvPr id="6" name="TextBox 5"/>
          <p:cNvSpPr txBox="1"/>
          <p:nvPr/>
        </p:nvSpPr>
        <p:spPr>
          <a:xfrm>
            <a:off x="594360" y="6510528"/>
            <a:ext cx="10972800" cy="274320"/>
          </a:xfrm>
          <a:prstGeom prst="rect">
            <a:avLst/>
          </a:prstGeom>
          <a:noFill/>
        </p:spPr>
        <p:txBody>
          <a:bodyPr wrap="none">
            <a:spAutoFit/>
          </a:bodyPr>
          <a:lstStyle/>
          <a:p>
            <a:pPr>
              <a:defRPr sz="950">
                <a:solidFill>
                  <a:srgbClr val="64748B"/>
                </a:solidFill>
                <a:latin typeface="Calibri"/>
              </a:defRPr>
            </a:pPr>
            <a:r>
              <a:t>Dev Dilip Dhapodkar (PRN: 24070521505)  |  Predictive Analytics CA3: Sales Forecasting                                                  Slide 4 of 7</a:t>
            </a:r>
          </a:p>
        </p:txBody>
      </p:sp>
      <p:pic>
        <p:nvPicPr>
          <p:cNvPr id="7" name="Picture 6" descr="chart2_top_features.png"/>
          <p:cNvPicPr>
            <a:picLocks noChangeAspect="1"/>
          </p:cNvPicPr>
          <p:nvPr/>
        </p:nvPicPr>
        <p:blipFill>
          <a:blip r:embed="rId2"/>
          <a:stretch>
            <a:fillRect/>
          </a:stretch>
        </p:blipFill>
        <p:spPr>
          <a:xfrm>
            <a:off x="594360" y="1234440"/>
            <a:ext cx="7132320" cy="4027663"/>
          </a:xfrm>
          <a:prstGeom prst="rect">
            <a:avLst/>
          </a:prstGeom>
        </p:spPr>
      </p:pic>
      <p:sp>
        <p:nvSpPr>
          <p:cNvPr id="8" name="Rounded Rectangle 7"/>
          <p:cNvSpPr/>
          <p:nvPr/>
        </p:nvSpPr>
        <p:spPr>
          <a:xfrm>
            <a:off x="7955279" y="1234440"/>
            <a:ext cx="3657600" cy="2468880"/>
          </a:xfrm>
          <a:prstGeom prst="roundRect">
            <a:avLst>
              <a:gd name="adj" fmla="val 4000"/>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955279" y="1234440"/>
            <a:ext cx="3657600" cy="402336"/>
          </a:xfrm>
          <a:prstGeom prst="roundRect">
            <a:avLst>
              <a:gd name="adj" fmla="val 8000"/>
            </a:avLst>
          </a:prstGeom>
          <a:solidFill>
            <a:srgbClr val="0F2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92440" y="1280160"/>
            <a:ext cx="3383280" cy="320040"/>
          </a:xfrm>
          <a:prstGeom prst="rect">
            <a:avLst/>
          </a:prstGeom>
          <a:noFill/>
        </p:spPr>
        <p:txBody>
          <a:bodyPr wrap="none">
            <a:spAutoFit/>
          </a:bodyPr>
          <a:lstStyle/>
          <a:p>
            <a:pPr>
              <a:defRPr sz="1300" b="1">
                <a:solidFill>
                  <a:srgbClr val="FFFFFF"/>
                </a:solidFill>
                <a:latin typeface="Calibri"/>
              </a:defRPr>
            </a:pPr>
            <a:r>
              <a:t>Top Predictive Drivers</a:t>
            </a:r>
          </a:p>
        </p:txBody>
      </p:sp>
      <p:sp>
        <p:nvSpPr>
          <p:cNvPr id="11" name="TextBox 10"/>
          <p:cNvSpPr txBox="1"/>
          <p:nvPr/>
        </p:nvSpPr>
        <p:spPr>
          <a:xfrm>
            <a:off x="8138159" y="1709928"/>
            <a:ext cx="3291840" cy="1920240"/>
          </a:xfrm>
          <a:prstGeom prst="rect">
            <a:avLst/>
          </a:prstGeom>
          <a:noFill/>
        </p:spPr>
        <p:txBody>
          <a:bodyPr wrap="square">
            <a:spAutoFit/>
          </a:bodyPr>
          <a:lstStyle/>
          <a:p>
            <a:pPr>
              <a:spcAft>
                <a:spcPts val="600"/>
              </a:spcAft>
              <a:defRPr sz="1200">
                <a:solidFill>
                  <a:srgbClr val="1E293B"/>
                </a:solidFill>
                <a:latin typeface="Calibri"/>
              </a:defRPr>
            </a:pPr>
            <a:r>
              <a:t>• #1: Sales 1 Year Ago (Lag 52): Contributes 40.9% of model gain! Department sales from the exact same week last year anchor seasonality.</a:t>
            </a:r>
          </a:p>
          <a:p>
            <a:pPr>
              <a:spcAft>
                <a:spcPts val="600"/>
              </a:spcAft>
              <a:defRPr sz="1200">
                <a:solidFill>
                  <a:srgbClr val="1E293B"/>
                </a:solidFill>
                <a:latin typeface="Calibri"/>
              </a:defRPr>
            </a:pPr>
            <a:r>
              <a:t>• #2 &amp; #3: Recent Trends (Lag 1 &amp; 4-Wk Avg): Combine for 40% of gain, capturing recent momentum and store traffic.</a:t>
            </a:r>
          </a:p>
          <a:p>
            <a:pPr>
              <a:spcAft>
                <a:spcPts val="600"/>
              </a:spcAft>
              <a:defRPr sz="1200">
                <a:solidFill>
                  <a:srgbClr val="1E293B"/>
                </a:solidFill>
                <a:latin typeface="Calibri"/>
              </a:defRPr>
            </a:pPr>
            <a:r>
              <a:t>• #4: Holiday Flags: Thanksgiving (+44%) and Christmas flags prevent holiday under-forecasting.</a:t>
            </a:r>
          </a:p>
        </p:txBody>
      </p:sp>
      <p:sp>
        <p:nvSpPr>
          <p:cNvPr id="12" name="Rounded Rectangle 11"/>
          <p:cNvSpPr/>
          <p:nvPr/>
        </p:nvSpPr>
        <p:spPr>
          <a:xfrm>
            <a:off x="7955279" y="3886200"/>
            <a:ext cx="3657600" cy="2423160"/>
          </a:xfrm>
          <a:prstGeom prst="roundRect">
            <a:avLst>
              <a:gd name="adj" fmla="val 4000"/>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955279" y="3886200"/>
            <a:ext cx="3657600" cy="402336"/>
          </a:xfrm>
          <a:prstGeom prst="roundRect">
            <a:avLst>
              <a:gd name="adj" fmla="val 8000"/>
            </a:avLst>
          </a:prstGeom>
          <a:solidFill>
            <a:srgbClr val="0071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92440" y="3931920"/>
            <a:ext cx="3383280" cy="320040"/>
          </a:xfrm>
          <a:prstGeom prst="rect">
            <a:avLst/>
          </a:prstGeom>
          <a:noFill/>
        </p:spPr>
        <p:txBody>
          <a:bodyPr wrap="none">
            <a:spAutoFit/>
          </a:bodyPr>
          <a:lstStyle/>
          <a:p>
            <a:pPr>
              <a:defRPr sz="1300" b="1">
                <a:solidFill>
                  <a:srgbClr val="FFFFFF"/>
                </a:solidFill>
                <a:latin typeface="Calibri"/>
              </a:defRPr>
            </a:pPr>
            <a:r>
              <a:t>Zero Data Leakage</a:t>
            </a:r>
          </a:p>
        </p:txBody>
      </p:sp>
      <p:sp>
        <p:nvSpPr>
          <p:cNvPr id="15" name="TextBox 14"/>
          <p:cNvSpPr txBox="1"/>
          <p:nvPr/>
        </p:nvSpPr>
        <p:spPr>
          <a:xfrm>
            <a:off x="8138159" y="4361688"/>
            <a:ext cx="3291840" cy="1874519"/>
          </a:xfrm>
          <a:prstGeom prst="rect">
            <a:avLst/>
          </a:prstGeom>
          <a:noFill/>
        </p:spPr>
        <p:txBody>
          <a:bodyPr wrap="square">
            <a:spAutoFit/>
          </a:bodyPr>
          <a:lstStyle/>
          <a:p>
            <a:pPr>
              <a:spcAft>
                <a:spcPts val="600"/>
              </a:spcAft>
              <a:defRPr sz="1200">
                <a:solidFill>
                  <a:srgbClr val="1E293B"/>
                </a:solidFill>
                <a:latin typeface="Calibri"/>
              </a:defRPr>
            </a:pPr>
            <a:r>
              <a:t>• Rolling Windows Shifted: All rolling statistics were computed on t-1 shifted data so no future sales leak into the model.</a:t>
            </a:r>
          </a:p>
          <a:p>
            <a:pPr>
              <a:spcAft>
                <a:spcPts val="600"/>
              </a:spcAft>
              <a:defRPr sz="1200">
                <a:solidFill>
                  <a:srgbClr val="1E293B"/>
                </a:solidFill>
                <a:latin typeface="Calibri"/>
              </a:defRPr>
            </a:pPr>
            <a:r>
              <a:t>• Strict Split: Historical store target baselines were calculated exclusively on the training set prior to November 2011.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F2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FC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09728"/>
            <a:ext cx="10058400" cy="777240"/>
          </a:xfrm>
          <a:prstGeom prst="rect">
            <a:avLst/>
          </a:prstGeom>
          <a:noFill/>
        </p:spPr>
        <p:txBody>
          <a:bodyPr wrap="square">
            <a:spAutoFit/>
          </a:bodyPr>
          <a:lstStyle/>
          <a:p>
            <a:pPr>
              <a:defRPr sz="2300" b="1">
                <a:solidFill>
                  <a:srgbClr val="FFFFFF"/>
                </a:solidFill>
                <a:latin typeface="Calibri"/>
              </a:defRPr>
            </a:pPr>
            <a:r>
              <a:t>4. Model Benchmarking: LightGBM Crushes Baseline</a:t>
            </a:r>
          </a:p>
          <a:p>
            <a:pPr>
              <a:defRPr sz="1200">
                <a:solidFill>
                  <a:srgbClr val="BAE6FD"/>
                </a:solidFill>
                <a:latin typeface="Calibri"/>
              </a:defRPr>
            </a:pPr>
            <a:r>
              <a:t>Evaluating on 145,237 Out-of-Sample Validation Records (49 Full Weeks)</a:t>
            </a:r>
          </a:p>
        </p:txBody>
      </p:sp>
      <p:sp>
        <p:nvSpPr>
          <p:cNvPr id="6" name="TextBox 5"/>
          <p:cNvSpPr txBox="1"/>
          <p:nvPr/>
        </p:nvSpPr>
        <p:spPr>
          <a:xfrm>
            <a:off x="594360" y="6510528"/>
            <a:ext cx="10972800" cy="274320"/>
          </a:xfrm>
          <a:prstGeom prst="rect">
            <a:avLst/>
          </a:prstGeom>
          <a:noFill/>
        </p:spPr>
        <p:txBody>
          <a:bodyPr wrap="none">
            <a:spAutoFit/>
          </a:bodyPr>
          <a:lstStyle/>
          <a:p>
            <a:pPr>
              <a:defRPr sz="950">
                <a:solidFill>
                  <a:srgbClr val="64748B"/>
                </a:solidFill>
                <a:latin typeface="Calibri"/>
              </a:defRPr>
            </a:pPr>
            <a:r>
              <a:t>Dev Dilip Dhapodkar (PRN: 24070521505)  |  Predictive Analytics CA3: Sales Forecasting                                                  Slide 5 of 7</a:t>
            </a:r>
          </a:p>
        </p:txBody>
      </p:sp>
      <p:pic>
        <p:nvPicPr>
          <p:cNvPr id="7" name="Picture 6" descr="chart3_model_wmae.png"/>
          <p:cNvPicPr>
            <a:picLocks noChangeAspect="1"/>
          </p:cNvPicPr>
          <p:nvPr/>
        </p:nvPicPr>
        <p:blipFill>
          <a:blip r:embed="rId2"/>
          <a:stretch>
            <a:fillRect/>
          </a:stretch>
        </p:blipFill>
        <p:spPr>
          <a:xfrm>
            <a:off x="594360" y="1234440"/>
            <a:ext cx="7132320" cy="4027663"/>
          </a:xfrm>
          <a:prstGeom prst="rect">
            <a:avLst/>
          </a:prstGeom>
        </p:spPr>
      </p:pic>
      <p:sp>
        <p:nvSpPr>
          <p:cNvPr id="8" name="Rounded Rectangle 7"/>
          <p:cNvSpPr/>
          <p:nvPr/>
        </p:nvSpPr>
        <p:spPr>
          <a:xfrm>
            <a:off x="7955279" y="1234440"/>
            <a:ext cx="3657600" cy="2468880"/>
          </a:xfrm>
          <a:prstGeom prst="roundRect">
            <a:avLst>
              <a:gd name="adj" fmla="val 4000"/>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955279" y="1234440"/>
            <a:ext cx="3657600" cy="402336"/>
          </a:xfrm>
          <a:prstGeom prst="roundRect">
            <a:avLst>
              <a:gd name="adj" fmla="val 8000"/>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92440" y="1280160"/>
            <a:ext cx="3383280" cy="320040"/>
          </a:xfrm>
          <a:prstGeom prst="rect">
            <a:avLst/>
          </a:prstGeom>
          <a:noFill/>
        </p:spPr>
        <p:txBody>
          <a:bodyPr wrap="none">
            <a:spAutoFit/>
          </a:bodyPr>
          <a:lstStyle/>
          <a:p>
            <a:pPr>
              <a:defRPr sz="1300" b="1">
                <a:solidFill>
                  <a:srgbClr val="FFFFFF"/>
                </a:solidFill>
                <a:latin typeface="Calibri"/>
              </a:defRPr>
            </a:pPr>
            <a:r>
              <a:t>Performance Comparison</a:t>
            </a:r>
          </a:p>
        </p:txBody>
      </p:sp>
      <p:sp>
        <p:nvSpPr>
          <p:cNvPr id="11" name="TextBox 10"/>
          <p:cNvSpPr txBox="1"/>
          <p:nvPr/>
        </p:nvSpPr>
        <p:spPr>
          <a:xfrm>
            <a:off x="8138159" y="1709928"/>
            <a:ext cx="3291840" cy="1920240"/>
          </a:xfrm>
          <a:prstGeom prst="rect">
            <a:avLst/>
          </a:prstGeom>
          <a:noFill/>
        </p:spPr>
        <p:txBody>
          <a:bodyPr wrap="square">
            <a:spAutoFit/>
          </a:bodyPr>
          <a:lstStyle/>
          <a:p>
            <a:pPr>
              <a:spcAft>
                <a:spcPts val="600"/>
              </a:spcAft>
              <a:defRPr sz="1200">
                <a:solidFill>
                  <a:srgbClr val="1E293B"/>
                </a:solidFill>
                <a:latin typeface="Calibri"/>
              </a:defRPr>
            </a:pPr>
            <a:r>
              <a:t>• Baseline (Ridge): WMAE $4,393 (Linear model overshoots heavily during holidays).</a:t>
            </a:r>
          </a:p>
          <a:p>
            <a:pPr>
              <a:spcAft>
                <a:spcPts val="600"/>
              </a:spcAft>
              <a:defRPr sz="1200">
                <a:solidFill>
                  <a:srgbClr val="1E293B"/>
                </a:solidFill>
                <a:latin typeface="Calibri"/>
              </a:defRPr>
            </a:pPr>
            <a:r>
              <a:t>• Random Forest: WMAE $1,792 (-59%).</a:t>
            </a:r>
          </a:p>
          <a:p>
            <a:pPr>
              <a:spcAft>
                <a:spcPts val="600"/>
              </a:spcAft>
              <a:defRPr sz="1200">
                <a:solidFill>
                  <a:srgbClr val="1E293B"/>
                </a:solidFill>
                <a:latin typeface="Calibri"/>
              </a:defRPr>
            </a:pPr>
            <a:r>
              <a:t>• XGBoost: WMAE $1,838 (-58%).</a:t>
            </a:r>
          </a:p>
          <a:p>
            <a:pPr>
              <a:spcAft>
                <a:spcPts val="600"/>
              </a:spcAft>
              <a:defRPr sz="1200">
                <a:solidFill>
                  <a:srgbClr val="1E293B"/>
                </a:solidFill>
                <a:latin typeface="Calibri"/>
              </a:defRPr>
            </a:pPr>
            <a:r>
              <a:t>• LightGBM: WMAE $1,759 (-60% Error Reduction, Winner!).</a:t>
            </a:r>
          </a:p>
        </p:txBody>
      </p:sp>
      <p:sp>
        <p:nvSpPr>
          <p:cNvPr id="12" name="Rounded Rectangle 11"/>
          <p:cNvSpPr/>
          <p:nvPr/>
        </p:nvSpPr>
        <p:spPr>
          <a:xfrm>
            <a:off x="7955279" y="3886200"/>
            <a:ext cx="3657600" cy="2423160"/>
          </a:xfrm>
          <a:prstGeom prst="roundRect">
            <a:avLst>
              <a:gd name="adj" fmla="val 4000"/>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955279" y="3886200"/>
            <a:ext cx="3657600" cy="402336"/>
          </a:xfrm>
          <a:prstGeom prst="roundRect">
            <a:avLst>
              <a:gd name="adj" fmla="val 8000"/>
            </a:avLst>
          </a:prstGeom>
          <a:solidFill>
            <a:srgbClr val="0F2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92440" y="3931920"/>
            <a:ext cx="3383280" cy="320040"/>
          </a:xfrm>
          <a:prstGeom prst="rect">
            <a:avLst/>
          </a:prstGeom>
          <a:noFill/>
        </p:spPr>
        <p:txBody>
          <a:bodyPr wrap="none">
            <a:spAutoFit/>
          </a:bodyPr>
          <a:lstStyle/>
          <a:p>
            <a:pPr>
              <a:defRPr sz="1300" b="1">
                <a:solidFill>
                  <a:srgbClr val="FFFFFF"/>
                </a:solidFill>
                <a:latin typeface="Calibri"/>
              </a:defRPr>
            </a:pPr>
            <a:r>
              <a:t>Why LightGBM Won</a:t>
            </a:r>
          </a:p>
        </p:txBody>
      </p:sp>
      <p:sp>
        <p:nvSpPr>
          <p:cNvPr id="15" name="TextBox 14"/>
          <p:cNvSpPr txBox="1"/>
          <p:nvPr/>
        </p:nvSpPr>
        <p:spPr>
          <a:xfrm>
            <a:off x="8138159" y="4361688"/>
            <a:ext cx="3291840" cy="1874519"/>
          </a:xfrm>
          <a:prstGeom prst="rect">
            <a:avLst/>
          </a:prstGeom>
          <a:noFill/>
        </p:spPr>
        <p:txBody>
          <a:bodyPr wrap="square">
            <a:spAutoFit/>
          </a:bodyPr>
          <a:lstStyle/>
          <a:p>
            <a:pPr>
              <a:spcAft>
                <a:spcPts val="600"/>
              </a:spcAft>
              <a:defRPr sz="1200">
                <a:solidFill>
                  <a:srgbClr val="1E293B"/>
                </a:solidFill>
                <a:latin typeface="Calibri"/>
              </a:defRPr>
            </a:pPr>
            <a:r>
              <a:t>• Holiday Error Slashed by 76%: Holiday MAE dropped from $10,108 down to $2,421.</a:t>
            </a:r>
          </a:p>
          <a:p>
            <a:pPr>
              <a:spcAft>
                <a:spcPts val="600"/>
              </a:spcAft>
              <a:defRPr sz="1200">
                <a:solidFill>
                  <a:srgbClr val="1E293B"/>
                </a:solidFill>
                <a:latin typeface="Calibri"/>
              </a:defRPr>
            </a:pPr>
            <a:r>
              <a:t>• Superior Fit: R² = 0.9725 (explains 97.25% of variance across 81 departments).</a:t>
            </a:r>
          </a:p>
          <a:p>
            <a:pPr>
              <a:spcAft>
                <a:spcPts val="600"/>
              </a:spcAft>
              <a:defRPr sz="1200">
                <a:solidFill>
                  <a:srgbClr val="1E293B"/>
                </a:solidFill>
                <a:latin typeface="Calibri"/>
              </a:defRPr>
            </a:pPr>
            <a:r>
              <a:t>• Lightning Fast: Trained 600 trees on 263,000 records in just 4.9 seconds!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F2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FC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09728"/>
            <a:ext cx="10058400" cy="777240"/>
          </a:xfrm>
          <a:prstGeom prst="rect">
            <a:avLst/>
          </a:prstGeom>
          <a:noFill/>
        </p:spPr>
        <p:txBody>
          <a:bodyPr wrap="square">
            <a:spAutoFit/>
          </a:bodyPr>
          <a:lstStyle/>
          <a:p>
            <a:pPr>
              <a:defRPr sz="2300" b="1">
                <a:solidFill>
                  <a:srgbClr val="FFFFFF"/>
                </a:solidFill>
                <a:latin typeface="Calibri"/>
              </a:defRPr>
            </a:pPr>
            <a:r>
              <a:t>5. Forecast Tracking: Predictions Hug Real Sales</a:t>
            </a:r>
          </a:p>
          <a:p>
            <a:pPr>
              <a:defRPr sz="1200">
                <a:solidFill>
                  <a:srgbClr val="BAE6FD"/>
                </a:solidFill>
                <a:latin typeface="Calibri"/>
              </a:defRPr>
            </a:pPr>
            <a:r>
              <a:t>Out-of-Sample Tracking of Aggregate Weekly Revenue and Holiday Peaks</a:t>
            </a:r>
          </a:p>
        </p:txBody>
      </p:sp>
      <p:sp>
        <p:nvSpPr>
          <p:cNvPr id="6" name="TextBox 5"/>
          <p:cNvSpPr txBox="1"/>
          <p:nvPr/>
        </p:nvSpPr>
        <p:spPr>
          <a:xfrm>
            <a:off x="594360" y="6510528"/>
            <a:ext cx="10972800" cy="274320"/>
          </a:xfrm>
          <a:prstGeom prst="rect">
            <a:avLst/>
          </a:prstGeom>
          <a:noFill/>
        </p:spPr>
        <p:txBody>
          <a:bodyPr wrap="none">
            <a:spAutoFit/>
          </a:bodyPr>
          <a:lstStyle/>
          <a:p>
            <a:pPr>
              <a:defRPr sz="950">
                <a:solidFill>
                  <a:srgbClr val="64748B"/>
                </a:solidFill>
                <a:latin typeface="Calibri"/>
              </a:defRPr>
            </a:pPr>
            <a:r>
              <a:t>Dev Dilip Dhapodkar (PRN: 24070521505)  |  Predictive Analytics CA3: Sales Forecasting                                                  Slide 6 of 7</a:t>
            </a:r>
          </a:p>
        </p:txBody>
      </p:sp>
      <p:pic>
        <p:nvPicPr>
          <p:cNvPr id="7" name="Picture 6" descr="chart4_actual_vs_pred.png"/>
          <p:cNvPicPr>
            <a:picLocks noChangeAspect="1"/>
          </p:cNvPicPr>
          <p:nvPr/>
        </p:nvPicPr>
        <p:blipFill>
          <a:blip r:embed="rId2"/>
          <a:stretch>
            <a:fillRect/>
          </a:stretch>
        </p:blipFill>
        <p:spPr>
          <a:xfrm>
            <a:off x="594360" y="1234440"/>
            <a:ext cx="7132320" cy="4027663"/>
          </a:xfrm>
          <a:prstGeom prst="rect">
            <a:avLst/>
          </a:prstGeom>
        </p:spPr>
      </p:pic>
      <p:sp>
        <p:nvSpPr>
          <p:cNvPr id="8" name="Rounded Rectangle 7"/>
          <p:cNvSpPr/>
          <p:nvPr/>
        </p:nvSpPr>
        <p:spPr>
          <a:xfrm>
            <a:off x="7955279" y="1234440"/>
            <a:ext cx="3657600" cy="2468880"/>
          </a:xfrm>
          <a:prstGeom prst="roundRect">
            <a:avLst>
              <a:gd name="adj" fmla="val 4000"/>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955279" y="1234440"/>
            <a:ext cx="3657600" cy="402336"/>
          </a:xfrm>
          <a:prstGeom prst="roundRect">
            <a:avLst>
              <a:gd name="adj" fmla="val 8000"/>
            </a:avLst>
          </a:prstGeom>
          <a:solidFill>
            <a:srgbClr val="0F2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92440" y="1280160"/>
            <a:ext cx="3383280" cy="320040"/>
          </a:xfrm>
          <a:prstGeom prst="rect">
            <a:avLst/>
          </a:prstGeom>
          <a:noFill/>
        </p:spPr>
        <p:txBody>
          <a:bodyPr wrap="none">
            <a:spAutoFit/>
          </a:bodyPr>
          <a:lstStyle/>
          <a:p>
            <a:pPr>
              <a:defRPr sz="1300" b="1">
                <a:solidFill>
                  <a:srgbClr val="FFFFFF"/>
                </a:solidFill>
                <a:latin typeface="Calibri"/>
              </a:defRPr>
            </a:pPr>
            <a:r>
              <a:t>Tight Peak Tracking</a:t>
            </a:r>
          </a:p>
        </p:txBody>
      </p:sp>
      <p:sp>
        <p:nvSpPr>
          <p:cNvPr id="11" name="TextBox 10"/>
          <p:cNvSpPr txBox="1"/>
          <p:nvPr/>
        </p:nvSpPr>
        <p:spPr>
          <a:xfrm>
            <a:off x="8138159" y="1709928"/>
            <a:ext cx="3291840" cy="1920240"/>
          </a:xfrm>
          <a:prstGeom prst="rect">
            <a:avLst/>
          </a:prstGeom>
          <a:noFill/>
        </p:spPr>
        <p:txBody>
          <a:bodyPr wrap="square">
            <a:spAutoFit/>
          </a:bodyPr>
          <a:lstStyle/>
          <a:p>
            <a:pPr>
              <a:spcAft>
                <a:spcPts val="600"/>
              </a:spcAft>
              <a:defRPr sz="1200">
                <a:solidFill>
                  <a:srgbClr val="1E293B"/>
                </a:solidFill>
                <a:latin typeface="Calibri"/>
              </a:defRPr>
            </a:pPr>
            <a:r>
              <a:t>• Black Line = Actual Sales ($M).</a:t>
            </a:r>
          </a:p>
          <a:p>
            <a:pPr>
              <a:spcAft>
                <a:spcPts val="600"/>
              </a:spcAft>
              <a:defRPr sz="1200">
                <a:solidFill>
                  <a:srgbClr val="1E293B"/>
                </a:solidFill>
                <a:latin typeface="Calibri"/>
              </a:defRPr>
            </a:pPr>
            <a:r>
              <a:t>• Dashed Green Line = LightGBM Forecast.</a:t>
            </a:r>
          </a:p>
          <a:p>
            <a:pPr>
              <a:spcAft>
                <a:spcPts val="600"/>
              </a:spcAft>
              <a:defRPr sz="1200">
                <a:solidFill>
                  <a:srgbClr val="1E293B"/>
                </a:solidFill>
                <a:latin typeface="Calibri"/>
              </a:defRPr>
            </a:pPr>
            <a:r>
              <a:t>• Both lines overlap almost perfectly throughout the 49-week horizon, accurately capturing the $77M Black Friday peak.</a:t>
            </a:r>
          </a:p>
        </p:txBody>
      </p:sp>
      <p:sp>
        <p:nvSpPr>
          <p:cNvPr id="12" name="Rounded Rectangle 11"/>
          <p:cNvSpPr/>
          <p:nvPr/>
        </p:nvSpPr>
        <p:spPr>
          <a:xfrm>
            <a:off x="7955279" y="3886200"/>
            <a:ext cx="3657600" cy="2423160"/>
          </a:xfrm>
          <a:prstGeom prst="roundRect">
            <a:avLst>
              <a:gd name="adj" fmla="val 4000"/>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955279" y="3886200"/>
            <a:ext cx="3657600" cy="402336"/>
          </a:xfrm>
          <a:prstGeom prst="roundRect">
            <a:avLst>
              <a:gd name="adj" fmla="val 8000"/>
            </a:avLst>
          </a:prstGeom>
          <a:solidFill>
            <a:srgbClr val="0071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92440" y="3931920"/>
            <a:ext cx="3383280" cy="320040"/>
          </a:xfrm>
          <a:prstGeom prst="rect">
            <a:avLst/>
          </a:prstGeom>
          <a:noFill/>
        </p:spPr>
        <p:txBody>
          <a:bodyPr wrap="none">
            <a:spAutoFit/>
          </a:bodyPr>
          <a:lstStyle/>
          <a:p>
            <a:pPr>
              <a:defRPr sz="1300" b="1">
                <a:solidFill>
                  <a:srgbClr val="FFFFFF"/>
                </a:solidFill>
                <a:latin typeface="Calibri"/>
              </a:defRPr>
            </a:pPr>
            <a:r>
              <a:t>Robust Generalization</a:t>
            </a:r>
          </a:p>
        </p:txBody>
      </p:sp>
      <p:sp>
        <p:nvSpPr>
          <p:cNvPr id="15" name="TextBox 14"/>
          <p:cNvSpPr txBox="1"/>
          <p:nvPr/>
        </p:nvSpPr>
        <p:spPr>
          <a:xfrm>
            <a:off x="8138159" y="4361688"/>
            <a:ext cx="3291840" cy="1874519"/>
          </a:xfrm>
          <a:prstGeom prst="rect">
            <a:avLst/>
          </a:prstGeom>
          <a:noFill/>
        </p:spPr>
        <p:txBody>
          <a:bodyPr wrap="square">
            <a:spAutoFit/>
          </a:bodyPr>
          <a:lstStyle/>
          <a:p>
            <a:pPr>
              <a:spcAft>
                <a:spcPts val="600"/>
              </a:spcAft>
              <a:defRPr sz="1200">
                <a:solidFill>
                  <a:srgbClr val="1E293B"/>
                </a:solidFill>
                <a:latin typeface="Calibri"/>
              </a:defRPr>
            </a:pPr>
            <a:r>
              <a:t>• Handles Post-Holiday Drops: Unlike linear models that lag behind, LightGBM immediately adapts to January post-holiday sales drops.</a:t>
            </a:r>
          </a:p>
          <a:p>
            <a:pPr>
              <a:spcAft>
                <a:spcPts val="600"/>
              </a:spcAft>
              <a:defRPr sz="1200">
                <a:solidFill>
                  <a:srgbClr val="1E293B"/>
                </a:solidFill>
                <a:latin typeface="Calibri"/>
              </a:defRPr>
            </a:pPr>
            <a:r>
              <a:t>• Department-Level Precision: Generalizes reliably across small neighborhood stores and massive supercenters.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F2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FC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09728"/>
            <a:ext cx="10058400" cy="777240"/>
          </a:xfrm>
          <a:prstGeom prst="rect">
            <a:avLst/>
          </a:prstGeom>
          <a:noFill/>
        </p:spPr>
        <p:txBody>
          <a:bodyPr wrap="square">
            <a:spAutoFit/>
          </a:bodyPr>
          <a:lstStyle/>
          <a:p>
            <a:pPr>
              <a:defRPr sz="2300" b="1">
                <a:solidFill>
                  <a:srgbClr val="FFFFFF"/>
                </a:solidFill>
                <a:latin typeface="Calibri"/>
              </a:defRPr>
            </a:pPr>
            <a:r>
              <a:t>6. Supply Chain Business Impact &amp; Conclusion</a:t>
            </a:r>
          </a:p>
          <a:p>
            <a:pPr>
              <a:defRPr sz="1200">
                <a:solidFill>
                  <a:srgbClr val="BAE6FD"/>
                </a:solidFill>
                <a:latin typeface="Calibri"/>
              </a:defRPr>
            </a:pPr>
            <a:r>
              <a:t>Translating 60% Forecast Error Reduction into $31.7M in Real Cost Savings</a:t>
            </a:r>
          </a:p>
        </p:txBody>
      </p:sp>
      <p:sp>
        <p:nvSpPr>
          <p:cNvPr id="6" name="TextBox 5"/>
          <p:cNvSpPr txBox="1"/>
          <p:nvPr/>
        </p:nvSpPr>
        <p:spPr>
          <a:xfrm>
            <a:off x="594360" y="6510528"/>
            <a:ext cx="10972800" cy="274320"/>
          </a:xfrm>
          <a:prstGeom prst="rect">
            <a:avLst/>
          </a:prstGeom>
          <a:noFill/>
        </p:spPr>
        <p:txBody>
          <a:bodyPr wrap="none">
            <a:spAutoFit/>
          </a:bodyPr>
          <a:lstStyle/>
          <a:p>
            <a:pPr>
              <a:defRPr sz="950">
                <a:solidFill>
                  <a:srgbClr val="64748B"/>
                </a:solidFill>
                <a:latin typeface="Calibri"/>
              </a:defRPr>
            </a:pPr>
            <a:r>
              <a:t>Dev Dilip Dhapodkar (PRN: 24070521505)  |  Predictive Analytics CA3: Sales Forecasting                                                  Slide 7 of 7</a:t>
            </a:r>
          </a:p>
        </p:txBody>
      </p:sp>
      <p:pic>
        <p:nvPicPr>
          <p:cNvPr id="7" name="Picture 6" descr="chart5_cost_savings.png"/>
          <p:cNvPicPr>
            <a:picLocks noChangeAspect="1"/>
          </p:cNvPicPr>
          <p:nvPr/>
        </p:nvPicPr>
        <p:blipFill>
          <a:blip r:embed="rId2"/>
          <a:stretch>
            <a:fillRect/>
          </a:stretch>
        </p:blipFill>
        <p:spPr>
          <a:xfrm>
            <a:off x="594360" y="1234440"/>
            <a:ext cx="7132320" cy="4027663"/>
          </a:xfrm>
          <a:prstGeom prst="rect">
            <a:avLst/>
          </a:prstGeom>
        </p:spPr>
      </p:pic>
      <p:sp>
        <p:nvSpPr>
          <p:cNvPr id="8" name="Rounded Rectangle 7"/>
          <p:cNvSpPr/>
          <p:nvPr/>
        </p:nvSpPr>
        <p:spPr>
          <a:xfrm>
            <a:off x="7955279" y="1234440"/>
            <a:ext cx="3657600" cy="2468880"/>
          </a:xfrm>
          <a:prstGeom prst="roundRect">
            <a:avLst>
              <a:gd name="adj" fmla="val 4000"/>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955279" y="1234440"/>
            <a:ext cx="3657600" cy="402336"/>
          </a:xfrm>
          <a:prstGeom prst="roundRect">
            <a:avLst>
              <a:gd name="adj" fmla="val 8000"/>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92440" y="1280160"/>
            <a:ext cx="3383280" cy="320040"/>
          </a:xfrm>
          <a:prstGeom prst="rect">
            <a:avLst/>
          </a:prstGeom>
          <a:noFill/>
        </p:spPr>
        <p:txBody>
          <a:bodyPr wrap="none">
            <a:spAutoFit/>
          </a:bodyPr>
          <a:lstStyle/>
          <a:p>
            <a:pPr>
              <a:defRPr sz="1300" b="1">
                <a:solidFill>
                  <a:srgbClr val="FFFFFF"/>
                </a:solidFill>
                <a:latin typeface="Calibri"/>
              </a:defRPr>
            </a:pPr>
            <a:r>
              <a:t>Quantified Savings ($31.7M)</a:t>
            </a:r>
          </a:p>
        </p:txBody>
      </p:sp>
      <p:sp>
        <p:nvSpPr>
          <p:cNvPr id="11" name="TextBox 10"/>
          <p:cNvSpPr txBox="1"/>
          <p:nvPr/>
        </p:nvSpPr>
        <p:spPr>
          <a:xfrm>
            <a:off x="8138159" y="1709928"/>
            <a:ext cx="3291840" cy="1920240"/>
          </a:xfrm>
          <a:prstGeom prst="rect">
            <a:avLst/>
          </a:prstGeom>
          <a:noFill/>
        </p:spPr>
        <p:txBody>
          <a:bodyPr wrap="square">
            <a:spAutoFit/>
          </a:bodyPr>
          <a:lstStyle/>
          <a:p>
            <a:pPr>
              <a:spcAft>
                <a:spcPts val="600"/>
              </a:spcAft>
              <a:defRPr sz="1200">
                <a:solidFill>
                  <a:srgbClr val="1E293B"/>
                </a:solidFill>
                <a:latin typeface="Calibri"/>
              </a:defRPr>
            </a:pPr>
            <a:r>
              <a:t>• Total Cost Dropped by 39%: Under a standard 22% holding + stockout penalty factor, mismatch costs drop from $80.3M to $48.6M.</a:t>
            </a:r>
          </a:p>
          <a:p>
            <a:pPr>
              <a:spcAft>
                <a:spcPts val="600"/>
              </a:spcAft>
              <a:defRPr sz="1200">
                <a:solidFill>
                  <a:srgbClr val="1E293B"/>
                </a:solidFill>
                <a:latin typeface="Calibri"/>
              </a:defRPr>
            </a:pPr>
            <a:r>
              <a:t>• Supercenters (Type A): Save $17.1M (-37%).</a:t>
            </a:r>
          </a:p>
          <a:p>
            <a:pPr>
              <a:spcAft>
                <a:spcPts val="600"/>
              </a:spcAft>
              <a:defRPr sz="1200">
                <a:solidFill>
                  <a:srgbClr val="1E293B"/>
                </a:solidFill>
                <a:latin typeface="Calibri"/>
              </a:defRPr>
            </a:pPr>
            <a:r>
              <a:t>• Discount Stores (Type B): Save $12.8M (-43%).</a:t>
            </a:r>
          </a:p>
          <a:p>
            <a:pPr>
              <a:spcAft>
                <a:spcPts val="600"/>
              </a:spcAft>
              <a:defRPr sz="1200">
                <a:solidFill>
                  <a:srgbClr val="1E293B"/>
                </a:solidFill>
                <a:latin typeface="Calibri"/>
              </a:defRPr>
            </a:pPr>
            <a:r>
              <a:t>• Neighborhood Mkts (Type C): Save $1.8M (-44%).</a:t>
            </a:r>
          </a:p>
        </p:txBody>
      </p:sp>
      <p:sp>
        <p:nvSpPr>
          <p:cNvPr id="12" name="Rounded Rectangle 11"/>
          <p:cNvSpPr/>
          <p:nvPr/>
        </p:nvSpPr>
        <p:spPr>
          <a:xfrm>
            <a:off x="7955279" y="3886200"/>
            <a:ext cx="3657600" cy="2423160"/>
          </a:xfrm>
          <a:prstGeom prst="roundRect">
            <a:avLst>
              <a:gd name="adj" fmla="val 4000"/>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955279" y="3886200"/>
            <a:ext cx="3657600" cy="402336"/>
          </a:xfrm>
          <a:prstGeom prst="roundRect">
            <a:avLst>
              <a:gd name="adj" fmla="val 8000"/>
            </a:avLst>
          </a:prstGeom>
          <a:solidFill>
            <a:srgbClr val="0F29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92440" y="3931920"/>
            <a:ext cx="3383280" cy="320040"/>
          </a:xfrm>
          <a:prstGeom prst="rect">
            <a:avLst/>
          </a:prstGeom>
          <a:noFill/>
        </p:spPr>
        <p:txBody>
          <a:bodyPr wrap="none">
            <a:spAutoFit/>
          </a:bodyPr>
          <a:lstStyle/>
          <a:p>
            <a:pPr>
              <a:defRPr sz="1300" b="1">
                <a:solidFill>
                  <a:srgbClr val="FFFFFF"/>
                </a:solidFill>
                <a:latin typeface="Calibri"/>
              </a:defRPr>
            </a:pPr>
            <a:r>
              <a:t>Key Takeaway</a:t>
            </a:r>
          </a:p>
        </p:txBody>
      </p:sp>
      <p:sp>
        <p:nvSpPr>
          <p:cNvPr id="15" name="TextBox 14"/>
          <p:cNvSpPr txBox="1"/>
          <p:nvPr/>
        </p:nvSpPr>
        <p:spPr>
          <a:xfrm>
            <a:off x="8138159" y="4361688"/>
            <a:ext cx="3291840" cy="1874519"/>
          </a:xfrm>
          <a:prstGeom prst="rect">
            <a:avLst/>
          </a:prstGeom>
          <a:noFill/>
        </p:spPr>
        <p:txBody>
          <a:bodyPr wrap="square">
            <a:spAutoFit/>
          </a:bodyPr>
          <a:lstStyle/>
          <a:p>
            <a:pPr>
              <a:spcAft>
                <a:spcPts val="600"/>
              </a:spcAft>
              <a:defRPr sz="1200">
                <a:solidFill>
                  <a:srgbClr val="1E293B"/>
                </a:solidFill>
                <a:latin typeface="Calibri"/>
              </a:defRPr>
            </a:pPr>
            <a:r>
              <a:t>• LightGBM delivers production-grade sales forecasts (WMAE $1,759, R² = 0.9725).</a:t>
            </a:r>
          </a:p>
          <a:p>
            <a:pPr>
              <a:spcAft>
                <a:spcPts val="600"/>
              </a:spcAft>
              <a:defRPr sz="1200">
                <a:solidFill>
                  <a:srgbClr val="1E293B"/>
                </a:solidFill>
                <a:latin typeface="Calibri"/>
              </a:defRPr>
            </a:pPr>
            <a:r>
              <a:t>• Directly eliminates stockouts on high-margin Black Friday and Christmas holiday periods.</a:t>
            </a:r>
          </a:p>
          <a:p>
            <a:pPr>
              <a:spcAft>
                <a:spcPts val="600"/>
              </a:spcAft>
              <a:defRPr sz="1200">
                <a:solidFill>
                  <a:srgbClr val="1E293B"/>
                </a:solidFill>
                <a:latin typeface="Calibri"/>
              </a:defRPr>
            </a:pPr>
            <a:r>
              <a:t>• Ready for automated supply chain replenishment deployment.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