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morning/afternoon. Today I am presenting my End-to-End Predictive Model Development Project for Predictive Analytics CA3: Retail Store Sales Forecasting and Supply Chain Inventory Optimization on the official Kaggle Walmart dataset following the KDD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retail supply chains, forecast errors have asymmetric costs. Under-forecasting during holidays leads to severe stockouts, which is why the Kaggle WMAE metric weights holiday weeks 5 times higher than regular weeks. Over-forecasting increases holding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literature review highlights why global tree ensembles like XGBoost and LightGBM surpassed classical ARIMA in the M5 Walmart competition. We address two common gaps: eliminating rolling-window data leakage and directly optimizing for 5x holiday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illustrates our 7-stage KDD workflow from Data Selection and Preprocessing through Feature Engineering, EDA, Model Training, WMAE Evaluation, and Supply Chain Cost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Step 2 of our workflow, we handle two crucial preprocessing tasks: first, MarkDown1 to MarkDown5 have 64% to 74% missing values prior to November 2011. We extract binary promo flags before zero-imputation. Second, we floor 1,285 negative sales rows at zero and winsorize non-holiday outliers.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 shows the aggregate weekly sales across all 45 Walmart stores from February 2010 to October 2012. Notice the massive recurring Q4 spikes during Thanksgiving and pre-Christmas weeks, and the strong r = 0.81 correlation between physical store square footage and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 quantifies the exact revenue lift of each holiday event: +44% during Thanksgiving and +40.2% during pre-Christmas weeks. Figure 4 shows the correlation matrix, confirming that Lag_52 (r=0.97), Rolling_Mean_4 (r=0.96), and Lag_1 (r=0.95) are strongly correlated with Weekly_Sales.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Step 3, we engineered 43 domain-specific features across 5 families: autoregressive lags, leak-free t-1 shifted rolling averages, explicit holiday and promotional interaction flags, Fourier cyclical transforms, and out-of-sample store-department encodings.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our quantitative validation results across 145,237 department-weeks. LightGBM achieves the lowest WMAE of $1,758.94—a 60% reduction over the Baseline Ridge model—along with the best RMSE ($3,837.62) and highest R-squared (0.9725) in under 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6 Panel A shows the weekly forecast tracking across the 49-week validation period. While the linear baseline overshoots massively after holiday spikes, LightGBM and XGBoost track the Thanksgiving, Christmas, Super Bowl, and Labor Day surges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7 compares feature importance across XGBoost and LightGBM. Year-over-year Lag_52 is the #1 predictor in both models (31.4% and 40.9%), followed by Rolling_Mean_4, Lag_1, Store_Dept_Mean, and explicit Thanksgiving and Christmas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8 translates our statistical metrics into supply chain impact. Cutting holiday error by 76% prevents peak-season stockouts, while overall error reduction lowers estimated holding and stockout mismatch costs by $31.7 million (-39.5%) across the 45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our KDD pipeline reduced WMAE by 60% to $1,758.94 and explained 97.25% of sales variance. We recommend a hybrid deployment using LightGBM for holiday peaks and XGBoost for regular replenishment. Thank you, and I welcome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C220"/>
                </a:solidFill>
                <a:latin typeface="Calibri"/>
              </a:defRPr>
            </a:pPr>
            <a:r>
              <a:t>PREDICTIVE ANALYTICS — CONTINUOUS ASSESSMENT 3 (CA3)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Sales Forecasting:</a:t>
            </a:r>
            <a:br/>
            <a:r>
              <a:t>End-to-End Retail Store Sales &amp; Supply Chain Optimization</a:t>
            </a:r>
          </a:p>
          <a:p>
            <a:pPr>
              <a:spcAft>
                <a:spcPts val="1400"/>
              </a:spcAft>
              <a:defRPr sz="1450">
                <a:solidFill>
                  <a:srgbClr val="BAE6FD"/>
                </a:solidFill>
                <a:latin typeface="Calibri"/>
              </a:defRPr>
            </a:pPr>
            <a:r>
              <a:t>Forecasting Weekly Department-Level Retail Demand Across 45 Walmart Stores Using Historical Sales, Promotional Markdowns, Holiday Events, and Macroeconomic Indicators via the KDD Process</a:t>
            </a:r>
          </a:p>
          <a:p>
            <a:pPr>
              <a:defRPr sz="1600" b="1">
                <a:solidFill>
                  <a:srgbClr val="FFC220"/>
                </a:solidFill>
                <a:latin typeface="Calibri"/>
              </a:defRPr>
            </a:pPr>
            <a:r>
              <a:t>Presented By: Dev Dilip Dhapodkar   |   PRN: 24070521505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1CE"/>
                </a:solidFill>
                <a:latin typeface="Calibri"/>
              </a:defRPr>
            </a:pPr>
            <a:r>
              <a:t>421,570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Training Records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45 Stores × 81 Depts (143 Wks)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43 Features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Leak-Free KDD Pipeline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Lags, Rolling, Promo &amp; Macro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11D48"/>
                </a:solidFill>
                <a:latin typeface="Calibri"/>
              </a:defRPr>
            </a:pPr>
            <a:r>
              <a:t>$1,758.94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Best WMAE (LightGBM)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-60.0% Error vs.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1CE"/>
                </a:solidFill>
                <a:latin typeface="Calibri"/>
              </a:defRPr>
            </a:pPr>
            <a:r>
              <a:t>R² = 0.9725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Variance Explained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$31.7M (-39.5%) Cost Savings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1. Problem Statement &amp; Supply Chain Optimization Objective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Balancing Out-of-Stock (OOS) Risk Against Inventory Holding Costs Across Multi-Format Retail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48640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 Retail Forecasting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673352"/>
            <a:ext cx="5230368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Granular Complexity: Forecasting Weekly_Sales across 45 stores and 81 distinct departments (3,645 series) over 143 weeks.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Exogenous Volatility: Demand is simultaneously driven by 5 promotional markdown channels (MarkDown1–5), 4 major holiday events, and regional macroeconomic shifts (CPI, Fuel Price, Unemployment).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Format Heterogeneity: Stores span Type A Supercenters (22), Type B Discount Stores (17), and Type C Neighborhood Markets (6).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486400" cy="38404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Asymmetric Supply Chain Cost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673352"/>
            <a:ext cx="5230368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Under-Forecasting (Out-of-Stock / OOS): Stockouts during high-velocity holiday peaks cause immediate lost revenue and customer attrition.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5x Holiday Weighting (WMAE): Official competition metric assigns weight w = 5 to Holiday weeks and w = 1 to Regular weeks.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Over-Forecasting (Holding Cost): Excess safety stock inflates warehouse storage overhead, working capital tie-up, and clearance markdowns.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1124712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1124712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1102766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Primary Project Objectives (KDD Framework)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4325112"/>
            <a:ext cx="10991088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1. Relational Ingestion &amp; Preprocessing: Merge train (421,570 rows), features (8,190 rows), and stores (45 rows); impute structural missingness in MarkDown1–5 (64%–74%) and treat negative accounting returns (1,285 rows) &amp; extreme outliers.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2. Multi-Horizon Feature Engineering: Engineer 43 leak-free features including seasonal lags (Lag_1, Lag_2, Lag_4, Lag_52), t-1 shifted rolling averages (4-week &amp; 12-week), Fourier cyclical encodings, and holiday-promo interaction terms.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3. Multi-Model Benchmarking &amp; Business Translation: Compare Baseline (Ridge Regression), Random Forest, XGBoost, and LightGBM across WMAE, RMSE, MAE, and R², and quantify inventory holding &amp; stockout cost reductions.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2. Literature Review &amp; Research Gap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Evolution from Classical Univariate Time Series to Global Gradient-Boosted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3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7295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5242255"/>
              </a:tblGrid>
              <a:tr h="5867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Author(s) &amp; Year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 / Dataset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Findings &amp; Limitations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Box &amp; Jenkins (2015);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Hyndman (2021)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ARIMA, SARIMAX &amp;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ETS State-Space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Univariate Retail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Time Series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Captures linear autocorrelation; fails on abrupt non-linear promotional spikes and cross-store hierarchies.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Chen &amp; Guestrin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(2016)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XGBoost (Regularized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Gradient Boosting)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Large-Scale Tabular &amp;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Temporal Benchmarks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2nd-order Taylor objective with L1/L2 tree penalties handles sparse markdowns and non-linear interactions.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 et al. (2017)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LightGBM (Histogram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Leaf-Wise Boosting)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High-Dimensional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Multi-Store Retail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Leaf-wise splitting &amp; histogram binning cut training time by &gt;80% while boosting accuracy on skewed targets.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Makridakis et al.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M5 Forecasting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Competition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Walmart Hierarchical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Sales (42,840 Series)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Global gradient boosted trees with multi-horizon lags &amp; rolling windows outperformed pure ARIMA &amp; deep nets.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Barrow &amp; Kourentzes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(2016)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Inventory Safety Stock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Optimization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Supply Chain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Replenishment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Reducing peak-season MAE directly lowers required safety stock buffers and stockout penalty exposure.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937760"/>
            <a:ext cx="11277295" cy="14173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7295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974336"/>
            <a:ext cx="110578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Research Gap Addressed in Our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5376672"/>
            <a:ext cx="1102126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Prevention of Temporal Data Leakage: Many existing implementations compute rolling averages without shifting by t-1 or compute target encodings across the full dataset. We enforce strict chronological isolation (split at 2011-11-25) and t-1 shifted windows.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Asymmetric Holiday Cost Optimization: We integrate w = 5 sample weights directly into ensemble training and translate WMAE gains into dollarized supply chain holding and stockout cost savings across Store Types A, B, and 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3. End-to-End KDD Implementation Workflow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Systematic Seven-Stage Knowledge Discovery in Databases (KDD)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4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536192" cy="5029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1: Data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Ingest 4 relational Kaggle CSVs (train: 421,570 rows, features: 8,190, stores: 45, test: 115,064) &amp; merge on (Store, Date, IsHoliday).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57400" y="1325880"/>
            <a:ext cx="1536192" cy="50292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2: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Extract Has_MarkDown flags; zero-impute MarkDown1–5 (64–74% NA); ffill/bfill CPI &amp; Unemp; floor 1,285 neg. sales &amp; cap 99.95% outliers.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03320" y="1325880"/>
            <a:ext cx="153619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3: Feature Eng.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Construct 43 leak-free features: Lags (1, 2, 4, 52w), t-1 Rolling Means/Std (4w, 12w), Fourier seasonality, Holiday &amp; Promo flags.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4924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9240" y="1325880"/>
            <a:ext cx="1536192" cy="50292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4: Exploratory EDA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Analyze store format hierarchy (Types A, B, C), physical size elasticity (r=0.81), holiday revenue lift (+44%), and macro correlations.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6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5160" y="1325880"/>
            <a:ext cx="1536192" cy="5029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5: Model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Chronological split (263,199 train / 145,237 val rows); train Ridge Baseline, Random Forest, LightGBM, and XGBoost with w=5 weights.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108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41080" y="1325880"/>
            <a:ext cx="1536192" cy="5029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6: 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23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Evaluate out-of-sample generalization via official Kaggle WMAE (w=5 holiday, w=1 regular), RMSE, MAE, R², and Holiday MAE.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8700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287000" y="1325880"/>
            <a:ext cx="153619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2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7: Interpretation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Analyze XGBoost/LightGBM split gain attribution and quantify $31.7M (-39.5%) supply chain inventory mismatch cost reduction.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526280"/>
            <a:ext cx="11356848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4526280"/>
            <a:ext cx="11356848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4562856"/>
            <a:ext cx="111373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Strict Chronological Validation Design (Preventing Look-Ahead Bias)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4965192"/>
            <a:ext cx="1110081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Training Window (94 Weeks): 2010-02-05 to 2011-11-18 (263,199 store-department-week observations after lag initialization).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Validation Window (49 Weeks): 2011-11-25 to 2012-10-26 (145,237 observations) — spans a full seasonal cycle covering ALL FOUR official holiday events: Thanksgiving (Nov 2011), Christmas (Dec 2011), Super Bowl (Feb 2012), and Labor Day (Sep 2012).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4. Data Selection, Missing MarkDown Imputation &amp; Outlier Treatment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Relational Schema Integration and Domain-Driven Preprocessing of 421,570 Historical Sales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5 / 13</a:t>
            </a:r>
          </a:p>
        </p:txBody>
      </p:sp>
      <p:pic>
        <p:nvPicPr>
          <p:cNvPr id="7" name="Picture 6" descr="fig2_outlier_and_markdow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1365992" cy="350636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526280"/>
          <a:ext cx="1136599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3474720"/>
                <a:gridCol w="3593592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Quality Issue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Affected Records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 in Retail Operations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KDD Preprocessing &amp; Treatment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MarkDown1–MarkDown5 Missingness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64.08% – 73.61% in Train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Walmart began tracking promo markdowns in Nov 2011; NA = no active promo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Extract Has_MarkDown &amp; Active_MarkDown_Count; impute structural 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CPI &amp; Unemployment Missingness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585 rows (7.14%) in features.csv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Macroeconomic series lagged in final 2013 test horizon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Store-grouped chronological forward/backward fill (ffill / bfill)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Negative Weekly_Sales (&lt; $0.00)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1,285 rows (0.30%) in Train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Post-holiday customer returns and accounting credit adjustments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Floor negative sales at $0.00 to ensure non-negative demand target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Extreme Upper-Tail Outliers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422 rows &gt; 99.9th pct ($174.9K)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One-off bulk institutional clearances vs. genuine holiday surges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Winsorize non-holiday records &gt; 99.95th pct ($183.5K); preserve Holidays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5. Exploratory Data Analysis: Store Formats &amp; Seasonal Surges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Multi-Store Sales Trajectory (2010–2012), Format Hierarchy (Types A, B, C), and Size Elasticity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6 / 13</a:t>
            </a:r>
          </a:p>
        </p:txBody>
      </p:sp>
      <p:pic>
        <p:nvPicPr>
          <p:cNvPr id="7" name="Picture 6" descr="fig1_eda_sale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818120" cy="511465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66760" y="1143000"/>
            <a:ext cx="3383280" cy="5166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66760" y="1143000"/>
            <a:ext cx="338328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6488" y="1179576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Visual EDA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4776" y="1581912"/>
            <a:ext cx="312724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Q4 Holiday Amplification: Aggregate weekly sales across the 45 stores average $47.1M in regular weeks, surging to $66.6M on Thanksgiving and $79.8M in the pre-Christmas week.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Store Format Hierarchy:</a:t>
            </a:r>
            <a:br/>
            <a:r>
              <a:t>  - Type A (22 Supercenters): Mean $1.45M/week (Avg Size: 177K sq.ft.)</a:t>
            </a:r>
            <a:br/>
            <a:r>
              <a:t>  - Type B (17 Discount Stores): Mean $0.79M/week (Avg Size: 101K sq.ft.)</a:t>
            </a:r>
            <a:br/>
            <a:r>
              <a:t>  - Type C (6 Neighborhood Mkts): Mean $0.46M/week (Avg Size: 41K sq.ft.)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Strong Size Elasticity: Physical store area correlates strongly with weekly revenue (Pearson r = 0.81), motivating Store_Size and Store_Type_Code features.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Right-Skewed Dept Sales: Department sales span from $0 to &gt;$600K with median $7,612 and IQR fence at $47,395.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6. EDA: Holiday Revenue Lift, Macroeconomics &amp; Correlations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Quantifying the 4 Official Holiday Events, Macroeconomic Trends, and Autoregressive Feature Correlations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7 / 13</a:t>
            </a:r>
          </a:p>
        </p:txBody>
      </p:sp>
      <p:pic>
        <p:nvPicPr>
          <p:cNvPr id="7" name="Picture 6" descr="fig3_holiday_and_macro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70432"/>
            <a:ext cx="6720840" cy="2358050"/>
          </a:xfrm>
          <a:prstGeom prst="rect">
            <a:avLst/>
          </a:prstGeom>
        </p:spPr>
      </p:pic>
      <p:pic>
        <p:nvPicPr>
          <p:cNvPr id="8" name="Picture 7" descr="fig4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170432"/>
            <a:ext cx="4480560" cy="382817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4160520"/>
            <a:ext cx="6720840" cy="2148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160520"/>
            <a:ext cx="672084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4197096"/>
            <a:ext cx="65013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Holiday Calendar &amp; Macroeconomic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4599431"/>
            <a:ext cx="646480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Thanksgiving Surge (+44.0%): Store revenue jumps from $1.02M (regular week) to $1.47M during Thanksgiving (Black Friday week) and $1.43M (+40.2%) during Pre-Christmas Weeks 49–51.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Super Bowl (+5.6%) &amp; Labor Day (+2.0%): Generate moderate category-specific surges in grocery, electronics, and apparel departments, whereas Christmas Week drops (-6.0%) due to store closures.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Macroeconomic Context: Over 2010–2012, CPI rose steadily (+7.2%) while Unemployment declined from 8.6% to 7.1%, providing regional purchasing-power context across store markets.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7. Feature Engineering Pipeline (43 Domain-Specific Predictors)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Capturing Multi-Horizon Autoregression, Rolling Momentum, Cyclical Seasonality &amp; Promo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36576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71016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Autoregressive Lag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1673352"/>
            <a:ext cx="340156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Grouped strictly by (Store, Dept) and sorted chronologically by Date: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Lag_1 (t - 1 week): Captures immediate local demand level (r = 0.95).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Lag_2 (t - 2 weeks): Captures bi-weekly paycheck cycles.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Lag_4 (t - 4 weeks): Captures monthly replenishment baseline (r = 0.94).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Lag_52 (t - 52 weeks): Exact year-over-year seasonal anchor (r = 0.97).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234440"/>
            <a:ext cx="36576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365760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271016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Leak-Free Rolling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9976" y="1673352"/>
            <a:ext cx="340156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Computed on t-1 shifted series s.shift(1).rolling(W) to prevent target leakage: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Rolling_Mean_4: 4-week moving average capturing short-term trend (r = 0.96).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Rolling_Std_4: 4-week rolling standard deviation measuring demand volatility.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Rolling_Mean_12: 12-week quarterly demand baseline (r = 0.95).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Momentum_1_4: Lag_1 - Rolling_Mean_4 (short-term acceleration).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234440"/>
            <a:ext cx="36576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234440"/>
            <a:ext cx="3657600" cy="38404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7" y="1271016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Holiday &amp; Promo Indicators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1673352"/>
            <a:ext cx="340156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Explicit Event Flags: Is_SuperBowl (W6), Is_LaborDay (W36), Is_Thanksgiving (W47), Is_Christmas (W52).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Pre_Christmas_Peak: Binary indicator for high-velocity shopping Weeks 49–51.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Promotional Aggregates: Total_MarkDown, Active_MarkDown_Count, Has_MarkDown.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Promo_Holiday_Interaction: Captures multiplicative promo lift during holidays.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86200"/>
            <a:ext cx="557784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886200"/>
            <a:ext cx="55778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" y="3922776"/>
            <a:ext cx="53583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Cyclical Fourier &amp; Calendar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" y="4325112"/>
            <a:ext cx="5321807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Standard Calendar: Year, Month, ISO Week (1–52), Quarter, DayOfYear.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Trigonometric Fourier Transforms:</a:t>
            </a:r>
            <a:br/>
            <a:r>
              <a:t>  - Week_Sin = sin(2π · Week / 52), Week_Cos = cos(2π · Week / 52)</a:t>
            </a:r>
            <a:br/>
            <a:r>
              <a:t>  - Month_Sin = sin(2π · Month / 12), Month_Cos = cos(2π · Month / 12)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Preserves smooth circular continuity between Week 52 (late Dec) and Week 1 (early Jan) for tree &amp; linear models.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886200"/>
            <a:ext cx="557784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3886200"/>
            <a:ext cx="557784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3922776"/>
            <a:ext cx="53583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5. Out-of-Sample Store-Dept &amp; Macro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325112"/>
            <a:ext cx="5321807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Leak-Free Target Statistics: Store_Dept_Mean, Store_Dept_Median, and Store_Dept_Std computed strictly on the training split (&lt; 2011-11-25).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Structural Store Metadata: Store_Type_Code (A=3, B=2, C=1) and physical Size (sq. ft.).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Macroeconomic &amp; Weather Context: Regional CPI, Unemployment Rate (%), Fuel_Price ($/gal), and Temperature (°F).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8. Model Training &amp; Quantitative Evaluation (WMAE, RMSE, R²)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Benchmarking Baseline Ridge, Random Forest, XGBoost, and LightGBM on 145,237 Validation Dept-Weeks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9 / 13</a:t>
            </a:r>
          </a:p>
        </p:txBody>
      </p:sp>
      <p:pic>
        <p:nvPicPr>
          <p:cNvPr id="7" name="Picture 6" descr="fig5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11365992" cy="3458941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251960"/>
          <a:ext cx="1136599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044952"/>
                <a:gridCol w="1143000"/>
                <a:gridCol w="1143000"/>
                <a:gridCol w="1051560"/>
                <a:gridCol w="868680"/>
                <a:gridCol w="1188720"/>
                <a:gridCol w="100584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Hyperparameters (Sample-Weighted w=5)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WMAE ($ USD)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 ($ USD)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 ($ USD)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Score ↑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Holiday MAE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Time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Baseline (Ridge)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StandardScaler + L2 Ridge (alpha = 100.0)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$4,393.17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$6,616.57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$2,514.98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0.9183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$10,108.52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 trees, max_depth=16, max_features=0.6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$1,791.54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$4,413.86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$1,520.75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0.9637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$2,615.57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42.88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XGBoost Regressor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550 trees, lr=0.05, max_depth=8, L1=1, L2=5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$1,837.57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$4,306.19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$1,523.89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0.9654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$2,792.11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6.31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LightGBM (Best WMAE)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600 trees, lr=0.05, num_leaves=63,colsample=0.8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$1,758.94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$3,837.62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$1,541.31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$2,421.19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4.91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9. Validation Forecast Tracking &amp; Parity Analysis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Tracking 49 Chronological Validation Weeks (Nov 2011 – Oct 2012) Across All 4 Major Holidays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10 / 13</a:t>
            </a:r>
          </a:p>
        </p:txBody>
      </p:sp>
      <p:pic>
        <p:nvPicPr>
          <p:cNvPr id="7" name="Picture 6" descr="fig6_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47518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4800600"/>
            <a:ext cx="11365992" cy="1554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800600"/>
            <a:ext cx="11365992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37176"/>
            <a:ext cx="11146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Tree Ensembles Outperform Linear Models During Holiday Peaks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5239512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Linear Overshoot &amp; Lag Bias (Panel A): Ridge Regression relies linearly on Lag_1 and Rolling_Mean_4, causing massive overshoot immediately after Thanksgiving/Christmas spikes (Holiday MAE = $10,108.52).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Non-Linear Holiday Switching: LightGBM ($1,758.94 WMAE) and XGBoost ($1,837.57 WMAE, $1,410.37 Regular MAE) condition on Is_Thanksgiving, Pre_Christmas_Peak, and Lag_52 simultaneously, tracking both the $77M Q4 peak and the post-Christmas drop with R² &gt; 0.965.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10. Feature Importance &amp; Gain Attribution Analysis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Comparing Normalized Split Gain Across XGBoost and LightGBM Regressors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11 / 13</a:t>
            </a:r>
          </a:p>
        </p:txBody>
      </p:sp>
      <p:pic>
        <p:nvPicPr>
          <p:cNvPr id="7" name="Picture 6" descr="fig7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4503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4846320"/>
            <a:ext cx="11365992" cy="1508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846320"/>
            <a:ext cx="11365992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82896"/>
            <a:ext cx="11146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Domain Interpretation of Top Predictive 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5285231"/>
            <a:ext cx="111099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Annual Seasonal Anchor (Lag_52): Ranked #1 in both models (31.4% XGBoost gain, 40.9% LightGBM gain), proving that department-specific sales from the exact same week a year ago provide the strongest structural baseline.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Short-Term Momentum (Rolling_Mean_4 &amp; Lag_1): Account for 37.6% (XGBoost) and 39.8% (LightGBM) of total gain, dynamically adapting forecasts to current store traffic, inflation (CPI), and local macroeconomic conditions.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Explicit Holiday Indicators (Is_Thanksgiving, Is_Christmas, Pre_Christmas_Peak): Contribute 9.4% gain in XGBoost, driving accurate Q4 surge adjustments.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11. Supply Chain Inventory Optimization &amp; Business Impact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Translating Forecast Accuracy into Safety Stock &amp; Stockout Cost Savings Across Store Types A, B,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12 / 13</a:t>
            </a:r>
          </a:p>
        </p:txBody>
      </p:sp>
      <p:pic>
        <p:nvPicPr>
          <p:cNvPr id="7" name="Picture 6" descr="fig8_supply_chain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37640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4709160"/>
            <a:ext cx="11365992" cy="1645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709160"/>
            <a:ext cx="1136599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745736"/>
            <a:ext cx="11146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Operational Supply Chain Impact (49-Week Validation Horizon)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5148072"/>
            <a:ext cx="11109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76.0% Reduction in Holiday Peak Error (Panel A): LightGBM cuts Holiday MAE from $10,108.52 to $2,421.19 per department-week, directly preventing high-margin out-of-stock (OOS) occurrences during Black Friday and Christmas.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$31.7M (-39.5%) Mismatch Cost Reduction (Panel B): Applying an industry-standard 22% holding + stockout penalty rate on cumulative forecast error reduces inventory mismatch cost from $80.3M (Baseline) to $48.6M:</a:t>
            </a:r>
            <a:br/>
            <a:r>
              <a:t>  - Type A Supercenters (22 stores): $46.5M → $29.4M (-36.7% / $17.1M saved)  |  Type B (17 stores): $29.7M → $16.9M (-43.0%)  |  Type C (6 stores): $4.1M → $2.3M (-43.5%).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12. Conclusion, Operational Recommendations &amp; Future Scope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Summary of End-to-End KDD Achievements and Next-Generation Retail Forecasting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Topic: Sales Forecasting                                                           Slide 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5486400" cy="2514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548640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KDD Project Achievements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1673352"/>
            <a:ext cx="52303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Complete End-to-End Pipeline: Ingested &amp; merged 421,570 historical sales records across 45 stores and 81 departments (143 weeks).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Leak-Free Feature Engineering: Engineered 43 predictors (Lags 1–52, t-1 Rolling Means, Fourier seasonality, Holiday &amp; Promo flags).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Superior Accuracy: LightGBM achieved WMAE = $1,758.94 (-60.0% vs. Baseline), RMSE = $3,837.62, and R² = 0.9725 in 4.91s.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Business Value: $31.7M (-39.5%) reduction in estimated supply chain holding &amp; stockout mismatch penalties.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486400" cy="2514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48640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Actionable Supply Chain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673352"/>
            <a:ext cx="52303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1. Hybrid Model Deployment: Deploy LightGBM ($2,421 Holiday MAE) for Q4 holiday inventory allocation and XGBoost ($1,410 Regular MAE) for routine weekly automated store replenishment.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2. Pre-Holiday Safety Stock Staging: Stage safety stock 3 weeks ahead of Weeks 47 (Thanksgiving) and 50 (Pre-Christmas) when MarkDown2 and MarkDown3 promotions are scheduled.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3. Format-Specific Reorder Points: Calibrate safety stock buffers separately for Type A Supercenters vs. Type B/C stores.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977639"/>
            <a:ext cx="1129284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977639"/>
            <a:ext cx="112928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4014215"/>
            <a:ext cx="11073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 Scope &amp; Advanced Extensions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4416552"/>
            <a:ext cx="1103680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Probabilistic Quantile Forecasting: Extend LightGBM/XGBoost point predictions to quantile regression (Pinball Loss at τ = 0.50, 0.90, 0.95) and Conformal Prediction to directly compute service-level safety stockreorder points.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Hierarchical Forecast Reconciliation (MinT): Enforce bottom-up and top-down coherence across National → Store Format → Store → Department levels.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Deep Learning Architectures: Benchmark Temporal Fusion Transformers (TFT) and N-BEATS alongside gradient-boosted decision trees.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