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0:00 - 0:40]</a:t>
            </a:r>
          </a:p>
          <a:p>
            <a:r>
              <a:t>SPEAKER SCRIPT:</a:t>
            </a:r>
          </a:p>
          <a:p>
            <a:r>
              <a:t>"Good morning everyone and respected professor. My name is Dev Dilip Dhapodkar, PRN 24070521505. Today I am presenting my Predictive Analytics CA3 project on 'Sales Forecasting'.</a:t>
            </a:r>
          </a:p>
          <a:p/>
          <a:p>
            <a:r>
              <a:t>In this project, I developed an end-to-end predictive machine learning model to forecast weekly department-level sales across 45 Walmart stores using historical sales, promotional markdowns, holiday calendar events, and macroeconomic indicators. </a:t>
            </a:r>
          </a:p>
          <a:p/>
          <a:p>
            <a:r>
              <a:t>Following the Knowledge Discovery in Databases (KDD) process, my final model achieved a 60% reduction in Weighted Mean Absolute Error and an R² of 0.9725. Let me walk you through the problem, the workflow, the models, and the key results."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0:40 - 1:30]</a:t>
            </a:r>
          </a:p>
          <a:p>
            <a:r>
              <a:t>SPEAKER SCRIPT:</a:t>
            </a:r>
          </a:p>
          <a:p>
            <a:r>
              <a:t>"In retail supply chains, forecast errors are asymmetric. If you under-forecast during a holiday like Thanksgiving, you face stockouts and lost revenue. If you over-forecast, you get hit with holding costs and clearance losses. That is why the evaluation metric for this competition—Weighted Mean Absolute Error (WMAE)—assigns five times more weight to holiday weeks.</a:t>
            </a:r>
          </a:p>
          <a:p/>
          <a:p>
            <a:r>
              <a:t>To solve this, I structured the project around the systematic KDD process across seven stages: from ingesting 421,000 records, to cleaning markdowns and negative returns, engineering 43 leak-free predictive features, and benchmarking four distinct machine learning algorithms."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1:30 - 2:20]</a:t>
            </a:r>
          </a:p>
          <a:p>
            <a:r>
              <a:t>SPEAKER SCRIPT:</a:t>
            </a:r>
          </a:p>
          <a:p>
            <a:r>
              <a:t>"Moving to Data Preprocessing. We faced two major data challenges shown in Figure 2:</a:t>
            </a:r>
          </a:p>
          <a:p>
            <a:r>
              <a:t>First, promotional markdowns (MarkDown1 through 5) had 64% to 74% missing values. This wasn't random missing data—Walmart only introduced tracking in late 2011, and markdowns only occur during promotions. Before imputing with zero, we created indicator features like 'Has_MarkDown' and 'Active_MarkDown_Count' so the model knows when a promotion was active.</a:t>
            </a:r>
          </a:p>
          <a:p/>
          <a:p>
            <a:r>
              <a:t>Second, 1,285 records had negative sales due to customer returns, which we floored at zero. For outliers, we carefully distinguished between anomalous errors and real holiday spikes. We capped non-holiday outliers at the 99.95th percentile while preserving authentic holiday sales peaks."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2:20 - 3:10]</a:t>
            </a:r>
          </a:p>
          <a:p>
            <a:r>
              <a:t>SPEAKER SCRIPT:</a:t>
            </a:r>
          </a:p>
          <a:p>
            <a:r>
              <a:t>"In Step 3, feature engineering is where predictive power is won or lost. We engineered 43 domain-specific features across four categories:</a:t>
            </a:r>
          </a:p>
          <a:p>
            <a:r>
              <a:t>1. Autoregressive lags: Lag 1, 2, 4, and most importantly Lag 52, which captures exact year-over-year seasonality.</a:t>
            </a:r>
          </a:p>
          <a:p>
            <a:r>
              <a:t>2. Leak-free rolling statistics: 4-week and 12-week moving averages, strictly shifted by one week so no future data leaks into the model.</a:t>
            </a:r>
          </a:p>
          <a:p>
            <a:r>
              <a:t>3. Explicit holiday flags: Not just a generic 'is holiday' flag, but specific indicators for Thanksgiving (which delivers a +44% revenue surge), Pre-Christmas peak, Super Bowl, and Labor Day.</a:t>
            </a:r>
          </a:p>
          <a:p>
            <a:r>
              <a:t>4. Cyclical Fourier sine and cosine features to handle circular calendar seasonality.</a:t>
            </a:r>
          </a:p>
          <a:p/>
          <a:p>
            <a:r>
              <a:t>As shown in the correlation matrix on the left, Lag 52 (r = 0.97) and Rolling Mean 4 (r = 0.96) show the highest correlation with sales."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3:10 - 4:15]</a:t>
            </a:r>
          </a:p>
          <a:p>
            <a:r>
              <a:t>SPEAKER SCRIPT:</a:t>
            </a:r>
          </a:p>
          <a:p>
            <a:r>
              <a:t>"Now looking at Model Training and Evaluation. We partitioned the data chronologically at November 25, 2011. This gave us 263,000 training records and an out-of-sample validation set of 145,000 records spanning 49 weeks and covering all four major holidays.</a:t>
            </a:r>
          </a:p>
          <a:p/>
          <a:p>
            <a:r>
              <a:t>We trained four models with sample weights of w = 5 on holiday weeks:</a:t>
            </a:r>
          </a:p>
          <a:p>
            <a:r>
              <a:t>1. Baseline Ridge Regression</a:t>
            </a:r>
          </a:p>
          <a:p>
            <a:r>
              <a:t>2. Random Forest Regressor</a:t>
            </a:r>
          </a:p>
          <a:p>
            <a:r>
              <a:t>3. XGBoost Regressor</a:t>
            </a:r>
          </a:p>
          <a:p>
            <a:r>
              <a:t>4. LightGBM Regressor</a:t>
            </a:r>
          </a:p>
          <a:p/>
          <a:p>
            <a:r>
              <a:t>Here are the key takeaways:</a:t>
            </a:r>
          </a:p>
          <a:p>
            <a:r>
              <a:t>- LightGBM was the clear winner: It achieved the lowest WMAE of $1,758.94—a 60% error reduction over the baseline—the lowest RMSE of $3,837, and the highest R² of 0.9725, training in just 4.9 seconds!</a:t>
            </a:r>
          </a:p>
          <a:p>
            <a:r>
              <a:t>- Look at the Holiday MAE column: Ridge regression failed completely during holidays, with an error of over $10,000 per department-week. LightGBM cut holiday error by 76% down to $2,421.</a:t>
            </a:r>
          </a:p>
          <a:p>
            <a:r>
              <a:t>- For regular non-holiday weeks, XGBoost was slightly better at $1,410 MAE, making both gradient-boosted models exceptionally strong."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4:15 - 5:00]</a:t>
            </a:r>
          </a:p>
          <a:p>
            <a:r>
              <a:t>SPEAKER SCRIPT:</a:t>
            </a:r>
          </a:p>
          <a:p>
            <a:r>
              <a:t>"Figure 6 provides visual confirmation of our validation results.</a:t>
            </a:r>
          </a:p>
          <a:p>
            <a:r>
              <a:t>In Panel A on the left, the black line represents actual aggregate weekly sales across the 49-week validation horizon. The yellow circles mark holiday weeks. </a:t>
            </a:r>
          </a:p>
          <a:p>
            <a:r>
              <a:t>Notice how the grey dotted line—the linear baseline—completely overshoots immediately after Thanksgiving and Christmas. In contrast, LightGBM (blue) and XGBoost (red) track the peaks and post-holiday dips with high precision.</a:t>
            </a:r>
          </a:p>
          <a:p/>
          <a:p>
            <a:r>
              <a:t>In Panel B on the right, you can see the predicted vs actual scatter plot on 8,000 sampled validation points. The points align tightly along the red 45-degree parity line, confirming consistent accuracy across both low-volume and high-volume departments."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[Target Time: 5:00 - 6:00]</a:t>
            </a:r>
          </a:p>
          <a:p>
            <a:r>
              <a:t>SPEAKER SCRIPT:</a:t>
            </a:r>
          </a:p>
          <a:p>
            <a:r>
              <a:t>"Finally, let's connect model accuracy to business impact:</a:t>
            </a:r>
          </a:p>
          <a:p>
            <a:r>
              <a:t>1. Feature Importance: The single most important feature was Lag 52 (sales from the same week last year), accounting for 41% of LightGBM's gain. Short-term rolling means and explicit holiday flags accounted for the rest.</a:t>
            </a:r>
          </a:p>
          <a:p>
            <a:r>
              <a:t>2. Supply Chain Impact: As shown in Figure 8 Panel B, applying a standard 22% inventory holding and stockout penalty factor across the 49-week horizon, moving from the baseline to gradient boosting reduces inventory mismatch costs from $80.3M down to $48.6M. That is an estimated savings of $31.7 million dollars—or a 39.5% cost reduction across all 45 stores.</a:t>
            </a:r>
          </a:p>
          <a:p/>
          <a:p>
            <a:r>
              <a:t>To conclude:</a:t>
            </a:r>
          </a:p>
          <a:p>
            <a:r>
              <a:t>We implemented an end-to-end KDD pipeline for Sales Forecasting. Our gradient-boosted models cut WMAE by 60% and explained 97.25% of sales variance. For deployment, we recommend LightGBM for high-stakes holiday pre-staging and XGBoost for routine weekly automated replenishment.</a:t>
            </a:r>
          </a:p>
          <a:p/>
          <a:p>
            <a:r>
              <a:t>Thank you for your time, and I am happy to answer any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C220"/>
                </a:solidFill>
                <a:latin typeface="Calibri"/>
              </a:defRPr>
            </a:pPr>
            <a:r>
              <a:t>PREDICTIVE ANALYTICS — CA3 PROJECT PRESENTATION</a:t>
            </a:r>
          </a:p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Sales Forecasting</a:t>
            </a:r>
          </a:p>
          <a:p>
            <a:pPr>
              <a:spcAft>
                <a:spcPts val="1800"/>
              </a:spcAft>
              <a:defRPr sz="1800">
                <a:solidFill>
                  <a:srgbClr val="BAE6FD"/>
                </a:solidFill>
                <a:latin typeface="Calibri"/>
              </a:defRPr>
            </a:pPr>
            <a:r>
              <a:t>End-to-End Retail Store Sales Forecasting &amp; Supply Chain Optimization</a:t>
            </a:r>
          </a:p>
          <a:p>
            <a:pPr>
              <a:defRPr sz="1600" b="1">
                <a:solidFill>
                  <a:srgbClr val="FFC220"/>
                </a:solidFill>
                <a:latin typeface="Calibri"/>
              </a:defRPr>
            </a:pPr>
            <a:r>
              <a:t>Presented by: Dev Dilip Dhapodkar   |   PRN: 24070521505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3108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1CE"/>
                </a:solidFill>
                <a:latin typeface="Calibri"/>
              </a:defRPr>
            </a:pPr>
            <a:r>
              <a:t>421,570</a:t>
            </a:r>
          </a:p>
          <a:p>
            <a:pPr algn="ctr">
              <a:defRPr sz="1100" b="1">
                <a:solidFill>
                  <a:srgbClr val="0F2942"/>
                </a:solidFill>
                <a:latin typeface="Calibri"/>
              </a:defRPr>
            </a:pPr>
            <a:r>
              <a:t>Historical Sales Records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45 Stores × 81 Depts (143 Weeks)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3108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45262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1CE"/>
                </a:solidFill>
                <a:latin typeface="Calibri"/>
              </a:defRPr>
            </a:pPr>
            <a:r>
              <a:t>60.0%</a:t>
            </a:r>
          </a:p>
          <a:p>
            <a:pPr algn="ctr">
              <a:defRPr sz="1100" b="1">
                <a:solidFill>
                  <a:srgbClr val="0F2942"/>
                </a:solidFill>
                <a:latin typeface="Calibri"/>
              </a:defRPr>
            </a:pPr>
            <a:r>
              <a:t>WMAE Error Reduction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$1,758.94 vs $4,393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389120"/>
            <a:ext cx="3108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52628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71CE"/>
                </a:solidFill>
                <a:latin typeface="Calibri"/>
              </a:defRPr>
            </a:pPr>
            <a:r>
              <a:t>0.9725</a:t>
            </a:r>
          </a:p>
          <a:p>
            <a:pPr algn="ctr">
              <a:defRPr sz="1100" b="1">
                <a:solidFill>
                  <a:srgbClr val="0F2942"/>
                </a:solidFill>
                <a:latin typeface="Calibri"/>
              </a:defRPr>
            </a:pPr>
            <a:r>
              <a:t>Coefficient of Determination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R² Score on Unseen 49-Week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1. Problem Statement &amp; KDD Workflow</a:t>
            </a:r>
          </a:p>
          <a:p>
            <a:pPr>
              <a:defRPr sz="1150">
                <a:solidFill>
                  <a:srgbClr val="BAE6FD"/>
                </a:solidFill>
                <a:latin typeface="Calibri"/>
              </a:defRPr>
            </a:pPr>
            <a:r>
              <a:t>Addressing Asymmetric Supply Chain Costs Through Systematic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Dev Dilip Dhapodkar (PRN: 24070521505)  |  Predictive Analytics CA3: Sales Forecasting                                                  Slide 2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023360" cy="2468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4023360" cy="384048"/>
          </a:xfrm>
          <a:prstGeom prst="roundRect">
            <a:avLst>
              <a:gd name="adj" fmla="val 8000"/>
            </a:avLst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79576"/>
            <a:ext cx="3749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 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749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Scale: 45 Walmart stores, 81 departments (over 3,600 time series).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Volatility: Extreme sales surges during holidays (Thanksgiving, Christmas) and promotional markdown campaigns.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Goal: Accurately predict Weekly_Sales to optimize inventory replenishment.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4023360" cy="2514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4023360" cy="384048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31336"/>
            <a:ext cx="3749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Asymmetric Supply Chain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33672"/>
            <a:ext cx="3749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Stockout Risk (Under-forecasting): Running out of stock during holiday peaks causes direct revenue loss and customer dissatisfaction. This is why the competition metric (WMAE) weights holiday errors 5x higher (w = 5).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Holding Cost (Over-forecasting): Overstocking incurs warehouse storage fees and forces post-season clearance markdowns.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143000"/>
            <a:ext cx="6766560" cy="51663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1143000"/>
            <a:ext cx="6766560" cy="384048"/>
          </a:xfrm>
          <a:prstGeom prst="roundRect">
            <a:avLst>
              <a:gd name="adj" fmla="val 8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179576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End-to-End KDD Implementation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581912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Data Ingestion: Merged 4 relational tables (train.csv, features.csv, stores.csv, test.csv) into 421,570 unified rows.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Preprocessing: Structural zero-imputation for MarkDown1–5; store-grouped fill for CPI &amp; Unemployment; floored 1,285 negative sales &amp; treated outliers.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Feature Engineering: Created 43 leak-free features (Lags 1–52, Rolling Means, Holiday flags, Fourier cyclical encodings).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Exploratory Data Analysis: Quantified store size elasticity (r = 0.81), format hierarchy (Types A, B, C), and holiday revenue lifts.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5. Model Training: Strict chronological split (2011-11-25); trained Baseline Ridge, Random Forest, XGBoost, and LightGBM with w=5 sample weights.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6. Model Evaluation: Assessed out-of-sample performance via WMAE ($w=5$), RMSE, MAE, and R².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7. Business Interpretation: Analyzed feature gain attribution and translated error reduction into $31.7M in inventory cost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Data Preprocessing: Missing MarkDowns &amp; Outliers</a:t>
            </a:r>
          </a:p>
          <a:p>
            <a:pPr>
              <a:defRPr sz="1150">
                <a:solidFill>
                  <a:srgbClr val="BAE6FD"/>
                </a:solidFill>
                <a:latin typeface="Calibri"/>
              </a:defRPr>
            </a:pPr>
            <a:r>
              <a:t>Cleaning 421,570 Records While Preserving Authentic Holiday Demand Spikes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Dev Dilip Dhapodkar (PRN: 24070521505)  |  Predictive Analytics CA3: Sales Forecasting                                                  Slide 3 of 7</a:t>
            </a:r>
          </a:p>
        </p:txBody>
      </p:sp>
      <p:pic>
        <p:nvPicPr>
          <p:cNvPr id="7" name="Picture 6" descr="fig2_outlier_and_markdow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22567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188720"/>
            <a:ext cx="3566160" cy="24231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566160" cy="384048"/>
          </a:xfrm>
          <a:prstGeom prst="roundRect">
            <a:avLst>
              <a:gd name="adj" fmla="val 8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225296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MarkDown Imputation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27632"/>
            <a:ext cx="3291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Pre-Nov 2011 Missingness: MarkDown1–5 have 64% to 74% missing values because Walmart only started tracking them in Nov 2011.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Treatment: Extracted binary Has_MarkDown and Active_MarkDown_Count flags, then imputed 0.0 (structural absence of promo).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CPI &amp; Unemployment: Missing in late test weeks; imputed using store-level forward/backward fill.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94760"/>
            <a:ext cx="3566160" cy="25603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3794760"/>
            <a:ext cx="3566160" cy="38404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831336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Negative Sales &amp; Outlier 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233672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Negative Returns (1,285 rows): 0.3% of sales were negative due to customer returns and accounting credits. Floored at $0.00.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Preserving Holiday Spikes: Standard IQR filtering would incorrectly delete genuine Black Friday surges. Instead, we winsorized non-holiday upper-tail records (&gt;99.95th percentile, $183K) while keeping holiday records intact.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Feature Engineering: 43 Leak-Free Predictors</a:t>
            </a:r>
          </a:p>
          <a:p>
            <a:pPr>
              <a:defRPr sz="1150">
                <a:solidFill>
                  <a:srgbClr val="BAE6FD"/>
                </a:solidFill>
                <a:latin typeface="Calibri"/>
              </a:defRPr>
            </a:pPr>
            <a:r>
              <a:t>Multi-Horizon Autoregression, Rolling Trends, Holiday Flags &amp; Cyclical Fourier Transforms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Dev Dilip Dhapodkar (PRN: 24070521505)  |  Predictive Analytics CA3: Sales Forecasting                                                  Slide 4 of 7</a:t>
            </a:r>
          </a:p>
        </p:txBody>
      </p:sp>
      <p:pic>
        <p:nvPicPr>
          <p:cNvPr id="7" name="Picture 6" descr="fig4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212080" cy="44531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143000"/>
            <a:ext cx="5669280" cy="2468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1143000"/>
            <a:ext cx="5669280" cy="384048"/>
          </a:xfrm>
          <a:prstGeom prst="roundRect">
            <a:avLst>
              <a:gd name="adj" fmla="val 8000"/>
            </a:avLst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79576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 Families Constructed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581912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Autoregressive Lags: Lag_1 (t-1 wk, r = 0.95), Lag_2 (bi-weekly), Lag_4 (monthly, r = 0.94), and Lag_52 (year-over-year seasonal anchor, r = 0.97).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Leak-Free Rolling Windows: Shifted by t-1 to prevent target leakage: Rolling_Mean_4, Rolling_Std_4, Rolling_Mean_12, and Momentum_1_4.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Specific Holiday Events: Binary flags for Super Bowl (W6), Labor Day (W36), Thanksgiving (W47, +44% sales lift), Christmas (W52), and Pre-Christmas Peak (W49–51, +40% sales lift).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Fourier Cyclical Encodings: sin/cos transforms of Week and Month to capture continuous seasonal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794760"/>
            <a:ext cx="5669280" cy="2514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3794760"/>
            <a:ext cx="5669280" cy="384048"/>
          </a:xfrm>
          <a:prstGeom prst="roundRect">
            <a:avLst>
              <a:gd name="adj" fmla="val 8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831336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Correlation Insights (Figure at Left)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233672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Strongest Drivers: Lag_52 (r = 0.97), Rolling_Mean_4 (r = 0.96), and Lag_1 (r = 0.95) have the highest linear correlation with Weekly_Sales.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Store Structure: Store physical size strongly correlates with sales (r = 0.81) across Type A Supercenters ($1.45M/wk), Type B Discount ($0.79M/wk), and Type C Neighborhood ($0.46M/wk).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No Look-Ahead Bias: Historical store-dept target statistics were computed strictly on the training partition.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Model Benchmarking &amp; Evaluation (WMAE, RMSE, R²)</a:t>
            </a:r>
          </a:p>
          <a:p>
            <a:pPr>
              <a:defRPr sz="1150">
                <a:solidFill>
                  <a:srgbClr val="BAE6FD"/>
                </a:solidFill>
                <a:latin typeface="Calibri"/>
              </a:defRPr>
            </a:pPr>
            <a:r>
              <a:t>Evaluating on 145,237 Unseen Dept-Weeks Across All 4 Holiday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Dev Dilip Dhapodkar (PRN: 24070521505)  |  Predictive Analytics CA3: Sales Forecasting                                                  Slide 5 of 7</a:t>
            </a:r>
          </a:p>
        </p:txBody>
      </p:sp>
      <p:pic>
        <p:nvPicPr>
          <p:cNvPr id="7" name="Picture 6" descr="fig5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337629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160520"/>
          <a:ext cx="1109441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280160"/>
                <a:gridCol w="1188720"/>
                <a:gridCol w="1005840"/>
                <a:gridCol w="1554480"/>
                <a:gridCol w="1463040"/>
                <a:gridCol w="1127455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WMAE (USD) ↓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(USD) ↓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(USD) ↓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 ↑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Holiday MAE (w=5) ↓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Regular MAE (w=1) ↓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Time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Baseline (Ridge Regression)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$4,393.17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$6,616.57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$2,514.98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0.9183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$10,108.52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$1,835.29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0.20 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 Regressor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$1,791.54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$4,413.86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$1,520.75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$2,615.57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$1,422.75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42.88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 Regressor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$1,837.57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$4,306.19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$1,523.89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0.9654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$2,792.11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$1,410.37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6.31 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LightGBM Regressor (Winner)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$1,758.94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$3,837.62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$1,541.31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0.9725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$2,421.19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$1,462.55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4.91 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5. Validation Forecast Tracking &amp; Parity Analysis</a:t>
            </a:r>
          </a:p>
          <a:p>
            <a:pPr>
              <a:defRPr sz="1150">
                <a:solidFill>
                  <a:srgbClr val="BAE6FD"/>
                </a:solidFill>
                <a:latin typeface="Calibri"/>
              </a:defRPr>
            </a:pPr>
            <a:r>
              <a:t>Visual Proof: Tracking the 49-Week Validation Horizon and Holiday Surges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Dev Dilip Dhapodkar (PRN: 24070521505)  |  Predictive Analytics CA3: Sales Forecasting                                                  Slide 6 of 7</a:t>
            </a:r>
          </a:p>
        </p:txBody>
      </p:sp>
      <p:pic>
        <p:nvPicPr>
          <p:cNvPr id="7" name="Picture 6" descr="fig6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11094415" cy="46383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846320"/>
            <a:ext cx="11094415" cy="15087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11094415" cy="384048"/>
          </a:xfrm>
          <a:prstGeom prst="roundRect">
            <a:avLst>
              <a:gd name="adj" fmla="val 8000"/>
            </a:avLst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82896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the Forecast Tracking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85231"/>
            <a:ext cx="10820095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Holiday Peak Tracking (Panel A): Black line is actual sales; dashed red is XGBoost and blue is LightGBM. Both track the $77M Thanksgiving and Christmas surges tightly, whereas the grey dotted Baseline overshoots dramatically.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Tight Parity Line (Panel B): Out of 145,237 predictions, points hug the 45-degree ideal parity line (y = x) with R² = 0.965 to 0.972, proving robust generalization across all 45 stores.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 Feature Importance, Supply Chain Impact &amp; Conclusion</a:t>
            </a:r>
          </a:p>
          <a:p>
            <a:pPr>
              <a:defRPr sz="1150">
                <a:solidFill>
                  <a:srgbClr val="BAE6FD"/>
                </a:solidFill>
                <a:latin typeface="Calibri"/>
              </a:defRPr>
            </a:pPr>
            <a:r>
              <a:t>Translating Model Accuracy into $31.7M in Inventory Cost Savings Across 45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Dev Dilip Dhapodkar (PRN: 24070521505)  |  Predictive Analytics CA3: Sales Forecasting                                                  Slide 7 of 7</a:t>
            </a:r>
          </a:p>
        </p:txBody>
      </p:sp>
      <p:pic>
        <p:nvPicPr>
          <p:cNvPr id="7" name="Picture 6" descr="fig8_supply_chai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217920" cy="20591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1143000"/>
            <a:ext cx="4663440" cy="2468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1143000"/>
            <a:ext cx="4663440" cy="384048"/>
          </a:xfrm>
          <a:prstGeom prst="roundRect">
            <a:avLst>
              <a:gd name="adj" fmla="val 8000"/>
            </a:avLst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179576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Top Predictive Drivers (Gain 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4389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Lag_52 (Annual Seasonality): #1 feature in both LightGBM (40.9%) and XGBoost (31.5%). Sales exactly 1 year ago anchor demand.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Rolling_Mean_4 &amp; Lag_1: Combine for 38% to 40% gain, adapting forecasts to short-term store traffic.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Holiday Flags: Is_Thanksgiving &amp; Pre_Christmas_Peak provide 9.4% gain in XGBoost, preventing holiday stockouts.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794760"/>
            <a:ext cx="4663440" cy="2514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0" y="3794760"/>
            <a:ext cx="4663440" cy="38404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831336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Supply Chain ROI &amp;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23367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76% Holiday Error Reduction: Cuts peak stockouts during Black Friday &amp; Christmas when stockouts hurt most.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$31.7M Cost Savings (-39.5%): Under an industry 22% mismatch penalty, forecast improvements save $17.1M in Supercenters (Type A), $12.8M in Discount (Type B), and $1.8M in Neighborhood Mkts (Type C).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Conclusion: LightGBM is recommended for Q4 holiday pre-staging and XGBoost for routine weekly replenishment.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